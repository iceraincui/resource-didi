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359" r:id="rId3"/>
    <p:sldId id="360" r:id="rId4"/>
    <p:sldId id="361" r:id="rId5"/>
    <p:sldId id="321" r:id="rId6"/>
    <p:sldId id="358" r:id="rId7"/>
    <p:sldId id="273" r:id="rId8"/>
    <p:sldId id="276" r:id="rId9"/>
    <p:sldId id="274" r:id="rId10"/>
    <p:sldId id="275" r:id="rId11"/>
    <p:sldId id="278" r:id="rId12"/>
    <p:sldId id="279" r:id="rId13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6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AF8"/>
    <a:srgbClr val="FFFFFF"/>
    <a:srgbClr val="00ADF8"/>
    <a:srgbClr val="040201"/>
    <a:srgbClr val="FF1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36826C-F471-4F4D-A487-091D767684D0}" styleName="表样式 1 17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/>
              </a:solidFill>
              <a:prstDash val="solid"/>
            </a:ln>
          </a:insideH>
          <a:insideV>
            <a:ln w="9525" cmpd="sng">
              <a:solidFill>
                <a:srgbClr val="72B8DA"/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72B8DA">
              <a:lumMod val="20000"/>
              <a:lumOff val="80000"/>
            </a:srgbClr>
          </a:solidFill>
        </a:fill>
      </a:tcStyle>
    </a:band1H>
    <a:band2V>
      <a:tcStyle>
        <a:tcBdr/>
        <a:fill>
          <a:solidFill>
            <a:srgbClr val="72B8DA">
              <a:lumMod val="20000"/>
              <a:lumOff val="80000"/>
            </a:srgbClr>
          </a:solidFill>
        </a:fill>
      </a:tcStyle>
    </a:band2V>
    <a:la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72B8DA">
              <a:lumMod val="20000"/>
              <a:lumOff val="80000"/>
            </a:srgbClr>
          </a:solidFill>
        </a:fill>
      </a:tcStyle>
    </a:lastCol>
    <a:firstCo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72B8DA"/>
          </a:solidFill>
        </a:fill>
      </a:tcStyle>
    </a:firstCol>
    <a:lastRow>
      <a:tcTxStyle b="on">
        <a:fontRef idx="none">
          <a:srgbClr val="72B8DA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wCel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72B8DA"/>
          </a:solidFill>
        </a:fill>
      </a:tcStyle>
    </a:swCell>
  </a:tblStyle>
  <a:tblStyle styleId="{431C1316-3D13-47B2-8BB8-DB9387CCB30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>
        <a:fontRef idx="none">
          <a:schemeClr val="tx1"/>
        </a:fontRef>
      </a:tcTxStyle>
      <a:tcStyle>
        <a:tcBdr/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firstCol>
    <a:la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2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2">
                  <a:alpha val="20000"/>
                  <a:lumMod val="35000"/>
                  <a:lumOff val="65000"/>
                </a:schemeClr>
              </a:solidFill>
              <a:prstDash val="solid"/>
            </a:ln>
          </a:insideV>
        </a:tcBdr>
        <a:fill>
          <a:solidFill>
            <a:schemeClr val="accent2">
              <a:alpha val="50000"/>
              <a:lumMod val="40000"/>
              <a:lumOff val="60000"/>
            </a:schemeClr>
          </a:solidFill>
        </a:fill>
      </a:tcStyle>
    </a:firstRow>
  </a:tblStyle>
  <a:tblStyle styleId="{0503B946-CA36-49A4-B27B-869D69C26D61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>
        <a:fontRef idx="none">
          <a:schemeClr val="tx1"/>
        </a:fontRef>
      </a:tcTxStyle>
      <a:tcStyle>
        <a:tcBdr/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firstCol>
    <a:la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2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2">
                  <a:alpha val="20000"/>
                  <a:lumMod val="35000"/>
                  <a:lumOff val="65000"/>
                </a:schemeClr>
              </a:solidFill>
              <a:prstDash val="solid"/>
            </a:ln>
          </a:insideV>
        </a:tcBdr>
        <a:fill>
          <a:solidFill>
            <a:schemeClr val="accent2">
              <a:alpha val="50000"/>
              <a:lumMod val="40000"/>
              <a:lumOff val="6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933" autoAdjust="0"/>
  </p:normalViewPr>
  <p:slideViewPr>
    <p:cSldViewPr snapToGrid="0" showGuides="1">
      <p:cViewPr varScale="1">
        <p:scale>
          <a:sx n="104" d="100"/>
          <a:sy n="104" d="100"/>
        </p:scale>
        <p:origin x="288" y="720"/>
      </p:cViewPr>
      <p:guideLst>
        <p:guide orient="horz" pos="2362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tags" Target="../tags/tag9.xml"/><Relationship Id="rId7" Type="http://schemas.openxmlformats.org/officeDocument/2006/relationships/image" Target="../media/image4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11.png"/><Relationship Id="rId4" Type="http://schemas.openxmlformats.org/officeDocument/2006/relationships/tags" Target="../tags/tag10.xml"/><Relationship Id="rId9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2BBD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/>
          <p:cNvSpPr/>
          <p:nvPr/>
        </p:nvSpPr>
        <p:spPr>
          <a:xfrm>
            <a:off x="1085848" y="1104900"/>
            <a:ext cx="10020300" cy="4648200"/>
          </a:xfrm>
          <a:prstGeom prst="roundRect">
            <a:avLst/>
          </a:prstGeom>
          <a:solidFill>
            <a:schemeClr val="bg1"/>
          </a:solidFill>
          <a:ln>
            <a:solidFill>
              <a:srgbClr val="72BBDC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片包含 游戏机, 钟表, 仪表&#10;&#10;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8045" y="2466975"/>
            <a:ext cx="12043955" cy="4391025"/>
          </a:xfrm>
          <a:custGeom>
            <a:avLst/>
            <a:gdLst>
              <a:gd name="connsiteX0" fmla="*/ 2052230 w 12043955"/>
              <a:gd name="connsiteY0" fmla="*/ 128587 h 4391025"/>
              <a:gd name="connsiteX1" fmla="*/ 2052230 w 12043955"/>
              <a:gd name="connsiteY1" fmla="*/ 2081212 h 4391025"/>
              <a:gd name="connsiteX2" fmla="*/ 4433480 w 12043955"/>
              <a:gd name="connsiteY2" fmla="*/ 2081212 h 4391025"/>
              <a:gd name="connsiteX3" fmla="*/ 4433480 w 12043955"/>
              <a:gd name="connsiteY3" fmla="*/ 128587 h 4391025"/>
              <a:gd name="connsiteX4" fmla="*/ 0 w 12043955"/>
              <a:gd name="connsiteY4" fmla="*/ 0 h 4391025"/>
              <a:gd name="connsiteX5" fmla="*/ 12043955 w 12043955"/>
              <a:gd name="connsiteY5" fmla="*/ 0 h 4391025"/>
              <a:gd name="connsiteX6" fmla="*/ 12043955 w 12043955"/>
              <a:gd name="connsiteY6" fmla="*/ 4391025 h 4391025"/>
              <a:gd name="connsiteX7" fmla="*/ 0 w 12043955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043955" h="4391025">
                <a:moveTo>
                  <a:pt x="2052230" y="128587"/>
                </a:moveTo>
                <a:lnTo>
                  <a:pt x="2052230" y="2081212"/>
                </a:lnTo>
                <a:lnTo>
                  <a:pt x="4433480" y="2081212"/>
                </a:lnTo>
                <a:lnTo>
                  <a:pt x="4433480" y="128587"/>
                </a:lnTo>
                <a:close/>
                <a:moveTo>
                  <a:pt x="0" y="0"/>
                </a:moveTo>
                <a:lnTo>
                  <a:pt x="12043955" y="0"/>
                </a:lnTo>
                <a:lnTo>
                  <a:pt x="12043955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1438275" y="200025"/>
            <a:ext cx="2381250" cy="1933575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sp>
        <p:nvSpPr>
          <p:cNvPr id="13" name="矩形 12"/>
          <p:cNvSpPr/>
          <p:nvPr/>
        </p:nvSpPr>
        <p:spPr>
          <a:xfrm>
            <a:off x="3963670" y="2723515"/>
            <a:ext cx="4354195" cy="1106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zh-CN" sz="6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+mn-ea"/>
                <a:sym typeface="+mn-lt"/>
              </a:rPr>
              <a:t>平均数</a:t>
            </a:r>
          </a:p>
        </p:txBody>
      </p:sp>
      <p:sp>
        <p:nvSpPr>
          <p:cNvPr id="14" name="矩形 13"/>
          <p:cNvSpPr/>
          <p:nvPr/>
        </p:nvSpPr>
        <p:spPr>
          <a:xfrm>
            <a:off x="4346971" y="1698777"/>
            <a:ext cx="349805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en-US" sz="3200" dirty="0">
                <a:solidFill>
                  <a:srgbClr val="3197C5"/>
                </a:solidFill>
                <a:latin typeface="南宋书局体" panose="02000000000000000000" pitchFamily="2" charset="-122"/>
                <a:ea typeface="南宋书局体" panose="02000000000000000000" pitchFamily="2" charset="-122"/>
                <a:cs typeface="+mn-ea"/>
                <a:sym typeface="+mn-lt"/>
              </a:rPr>
              <a:t>四年级数学下册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表格 31">
            <a:extLst>
              <a:ext uri="{FF2B5EF4-FFF2-40B4-BE49-F238E27FC236}">
                <a16:creationId xmlns:a16="http://schemas.microsoft.com/office/drawing/2014/main" id="{9910E477-34A5-5571-E5A8-D45D7AEED3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601647"/>
              </p:ext>
            </p:extLst>
          </p:nvPr>
        </p:nvGraphicFramePr>
        <p:xfrm>
          <a:off x="3212253" y="3026410"/>
          <a:ext cx="3429000" cy="3175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153596634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84934272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75847941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2711453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07985718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2619047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548714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0821487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78676329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467881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5444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8238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22352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78163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441203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278537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52604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83722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222064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782196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6954757" y="6033452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次数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6600318" y="2530670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6" name="直接箭头连接符 50"/>
          <p:cNvCxnSpPr>
            <a:cxnSpLocks/>
          </p:cNvCxnSpPr>
          <p:nvPr/>
        </p:nvCxnSpPr>
        <p:spPr>
          <a:xfrm flipH="1" flipV="1">
            <a:off x="3200319" y="2246243"/>
            <a:ext cx="9208" cy="39675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箭头连接符 51"/>
          <p:cNvCxnSpPr/>
          <p:nvPr/>
        </p:nvCxnSpPr>
        <p:spPr>
          <a:xfrm flipV="1">
            <a:off x="3218417" y="6201727"/>
            <a:ext cx="3727450" cy="146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2983265" y="607478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972672" y="5728945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969497" y="539361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970132" y="5076653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2967592" y="476159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962512" y="4459872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959972" y="414852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968227" y="3843628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965687" y="3503903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970132" y="3173654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891392" y="288521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3651487" y="4253229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4377194" y="2988889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5179143" y="396023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5909548" y="3305021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pic>
        <p:nvPicPr>
          <p:cNvPr id="43" name="图片 4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6256" y="4621528"/>
            <a:ext cx="371317" cy="1591627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8250" y="3026410"/>
            <a:ext cx="2724150" cy="2032000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20E04C78-F99B-91A4-329B-8DB4713F06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3436" y="3992987"/>
            <a:ext cx="371317" cy="2232969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6FF15AC2-8D51-706D-6001-19F213C5C4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8169" y="4296723"/>
            <a:ext cx="371317" cy="1911728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B952A69B-44F9-B0B4-9E43-A13C111CB3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4680" y="3992987"/>
            <a:ext cx="371317" cy="2198481"/>
          </a:xfrm>
          <a:prstGeom prst="rect">
            <a:avLst/>
          </a:prstGeom>
        </p:spPr>
      </p:pic>
      <p:pic>
        <p:nvPicPr>
          <p:cNvPr id="36" name="图片 35">
            <a:extLst>
              <a:ext uri="{FF2B5EF4-FFF2-40B4-BE49-F238E27FC236}">
                <a16:creationId xmlns:a16="http://schemas.microsoft.com/office/drawing/2014/main" id="{765E9F89-60C2-E43E-B9FC-B30F8BF6E8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3568" y="3349090"/>
            <a:ext cx="371317" cy="643897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2CB1EBAF-C815-D8BA-73F6-4CD4610DEF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4680" y="3671039"/>
            <a:ext cx="371317" cy="321632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B6987698-1EB0-804C-DB2F-4AD48179D2AE}"/>
              </a:ext>
            </a:extLst>
          </p:cNvPr>
          <p:cNvSpPr txBox="1"/>
          <p:nvPr/>
        </p:nvSpPr>
        <p:spPr>
          <a:xfrm>
            <a:off x="3608613" y="71325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5</a:t>
            </a:r>
            <a:endParaRPr kumimoji="1" lang="zh-CN" altLang="en-US" sz="24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A8B71E54-C874-E495-7EAB-894653617C29}"/>
              </a:ext>
            </a:extLst>
          </p:cNvPr>
          <p:cNvSpPr txBox="1"/>
          <p:nvPr/>
        </p:nvSpPr>
        <p:spPr>
          <a:xfrm>
            <a:off x="4836049" y="717377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9</a:t>
            </a:r>
            <a:endParaRPr kumimoji="1" lang="zh-CN" altLang="en-US" sz="24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1D828A0-430B-4479-0D16-7993C40BAA8C}"/>
              </a:ext>
            </a:extLst>
          </p:cNvPr>
          <p:cNvSpPr txBox="1"/>
          <p:nvPr/>
        </p:nvSpPr>
        <p:spPr>
          <a:xfrm>
            <a:off x="6158229" y="71737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6</a:t>
            </a:r>
            <a:endParaRPr kumimoji="1" lang="zh-CN" altLang="en-US" sz="24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9F9B62C-EF8D-C0FB-62B0-BDEE3C66D299}"/>
              </a:ext>
            </a:extLst>
          </p:cNvPr>
          <p:cNvSpPr txBox="1"/>
          <p:nvPr/>
        </p:nvSpPr>
        <p:spPr>
          <a:xfrm>
            <a:off x="7344487" y="71737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C0CF82-94EC-F314-F35A-4AC2E533F735}"/>
              </a:ext>
            </a:extLst>
          </p:cNvPr>
          <p:cNvSpPr txBox="1"/>
          <p:nvPr/>
        </p:nvSpPr>
        <p:spPr>
          <a:xfrm>
            <a:off x="8691375" y="72973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7</a:t>
            </a:r>
            <a:endParaRPr kumimoji="1" lang="zh-CN" altLang="en-US" sz="2400" dirty="0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24E80376-9EA1-BF0B-0FEE-885F38496CC1}"/>
              </a:ext>
            </a:extLst>
          </p:cNvPr>
          <p:cNvGrpSpPr/>
          <p:nvPr/>
        </p:nvGrpSpPr>
        <p:grpSpPr>
          <a:xfrm>
            <a:off x="3168467" y="3717253"/>
            <a:ext cx="5432425" cy="521970"/>
            <a:chOff x="7193" y="3484"/>
            <a:chExt cx="8122" cy="822"/>
          </a:xfrm>
        </p:grpSpPr>
        <p:cxnSp>
          <p:nvCxnSpPr>
            <p:cNvPr id="46" name="直接连接符 12">
              <a:extLst>
                <a:ext uri="{FF2B5EF4-FFF2-40B4-BE49-F238E27FC236}">
                  <a16:creationId xmlns:a16="http://schemas.microsoft.com/office/drawing/2014/main" id="{BF39F215-1B18-0AD9-DD1D-B517F540C556}"/>
                </a:ext>
              </a:extLst>
            </p:cNvPr>
            <p:cNvCxnSpPr>
              <a:endCxn id="47" idx="1"/>
            </p:cNvCxnSpPr>
            <p:nvPr/>
          </p:nvCxnSpPr>
          <p:spPr>
            <a:xfrm flipV="1">
              <a:off x="7193" y="3895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2174659B-F1B5-64E3-9C06-D53E736990DC}"/>
                </a:ext>
              </a:extLst>
            </p:cNvPr>
            <p:cNvSpPr txBox="1"/>
            <p:nvPr/>
          </p:nvSpPr>
          <p:spPr>
            <a:xfrm>
              <a:off x="12761" y="3484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7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4.81481E-6 C -0.01914 0.00208 -0.03803 0.00486 -0.04844 0.0199 C -0.05886 0.03541 -0.06042 0.07638 -0.06224 0.09143 " pathEditMode="relative" rAng="0" ptsTypes="AAA">
                                      <p:cBhvr>
                                        <p:cTn id="106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12" y="456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4.81481E-6 C -0.02045 0.00163 -0.04076 0.00348 -0.05104 0.01088 C -0.06146 0.01852 -0.07396 0.03496 -0.06289 0.04514 " pathEditMode="relative" rAng="0" ptsTypes="AAA">
                                      <p:cBhvr>
                                        <p:cTn id="108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59" y="2245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8" grpId="0"/>
      <p:bldP spid="9" grpId="0"/>
      <p:bldP spid="11" grpId="0"/>
      <p:bldP spid="12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38" grpId="0"/>
      <p:bldP spid="40" grpId="0"/>
      <p:bldP spid="41" grpId="0"/>
      <p:bldP spid="42" grpId="0"/>
      <p:bldP spid="4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表格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0819121"/>
              </p:ext>
            </p:extLst>
          </p:nvPr>
        </p:nvGraphicFramePr>
        <p:xfrm>
          <a:off x="3055651" y="3042357"/>
          <a:ext cx="34290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6798519" y="6050137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序号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6444080" y="2547355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8" name="直接箭头连接符 50"/>
          <p:cNvCxnSpPr/>
          <p:nvPr/>
        </p:nvCxnSpPr>
        <p:spPr>
          <a:xfrm flipV="1">
            <a:off x="3053289" y="2649419"/>
            <a:ext cx="2362" cy="3581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箭头连接符 51"/>
          <p:cNvCxnSpPr/>
          <p:nvPr/>
        </p:nvCxnSpPr>
        <p:spPr>
          <a:xfrm flipV="1">
            <a:off x="3062179" y="6218377"/>
            <a:ext cx="3736340" cy="146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2827027" y="609146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816434" y="5745630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2813259" y="541030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813894" y="5093338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811354" y="477828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806274" y="447655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803734" y="416521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811989" y="3860313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809449" y="3520588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813894" y="3190339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735154" y="2901902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3471803" y="3988562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4220956" y="3050180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4999459" y="4628316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35" name="文本框 34"/>
          <p:cNvSpPr txBox="1"/>
          <p:nvPr/>
        </p:nvSpPr>
        <p:spPr>
          <a:xfrm>
            <a:off x="5761455" y="4276627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28017725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图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7690" y="3418205"/>
            <a:ext cx="2838450" cy="1758950"/>
          </a:xfrm>
          <a:prstGeom prst="rect">
            <a:avLst/>
          </a:prstGeom>
        </p:spPr>
      </p:pic>
      <p:cxnSp>
        <p:nvCxnSpPr>
          <p:cNvPr id="3" name="直接连接符 12">
            <a:extLst>
              <a:ext uri="{FF2B5EF4-FFF2-40B4-BE49-F238E27FC236}">
                <a16:creationId xmlns:a16="http://schemas.microsoft.com/office/drawing/2014/main" id="{494C3B72-8710-AAE0-046F-AC4F5D8C7296}"/>
              </a:ext>
            </a:extLst>
          </p:cNvPr>
          <p:cNvCxnSpPr>
            <a:cxnSpLocks/>
          </p:cNvCxnSpPr>
          <p:nvPr/>
        </p:nvCxnSpPr>
        <p:spPr>
          <a:xfrm>
            <a:off x="3055651" y="3360354"/>
            <a:ext cx="3724174" cy="0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12">
            <a:extLst>
              <a:ext uri="{FF2B5EF4-FFF2-40B4-BE49-F238E27FC236}">
                <a16:creationId xmlns:a16="http://schemas.microsoft.com/office/drawing/2014/main" id="{B51CB7A9-D896-C5FF-8153-960BE69BD411}"/>
              </a:ext>
            </a:extLst>
          </p:cNvPr>
          <p:cNvCxnSpPr>
            <a:cxnSpLocks/>
          </p:cNvCxnSpPr>
          <p:nvPr/>
        </p:nvCxnSpPr>
        <p:spPr>
          <a:xfrm>
            <a:off x="3062179" y="4954210"/>
            <a:ext cx="3724174" cy="0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479923B8-E817-3879-AD6B-F9AFF702EAAB}"/>
              </a:ext>
            </a:extLst>
          </p:cNvPr>
          <p:cNvGrpSpPr/>
          <p:nvPr/>
        </p:nvGrpSpPr>
        <p:grpSpPr>
          <a:xfrm>
            <a:off x="3026954" y="4046849"/>
            <a:ext cx="5432425" cy="521970"/>
            <a:chOff x="7193" y="3501"/>
            <a:chExt cx="8122" cy="822"/>
          </a:xfrm>
        </p:grpSpPr>
        <p:cxnSp>
          <p:nvCxnSpPr>
            <p:cNvPr id="50" name="直接连接符 12">
              <a:extLst>
                <a:ext uri="{FF2B5EF4-FFF2-40B4-BE49-F238E27FC236}">
                  <a16:creationId xmlns:a16="http://schemas.microsoft.com/office/drawing/2014/main" id="{5F2F4D83-3E6C-BFED-CB43-DA3271295C92}"/>
                </a:ext>
              </a:extLst>
            </p:cNvPr>
            <p:cNvCxnSpPr>
              <a:endCxn id="51" idx="1"/>
            </p:cNvCxnSpPr>
            <p:nvPr/>
          </p:nvCxnSpPr>
          <p:spPr>
            <a:xfrm flipV="1">
              <a:off x="7193" y="3912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F3B35137-A4D7-732A-EA07-F6481425E651}"/>
                </a:ext>
              </a:extLst>
            </p:cNvPr>
            <p:cNvSpPr txBox="1"/>
            <p:nvPr/>
          </p:nvSpPr>
          <p:spPr>
            <a:xfrm>
              <a:off x="12761" y="3501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6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sp>
        <p:nvSpPr>
          <p:cNvPr id="52" name="文本框 51">
            <a:extLst>
              <a:ext uri="{FF2B5EF4-FFF2-40B4-BE49-F238E27FC236}">
                <a16:creationId xmlns:a16="http://schemas.microsoft.com/office/drawing/2014/main" id="{B82E36E8-2E50-A821-4BC7-79E1C19B9E32}"/>
              </a:ext>
            </a:extLst>
          </p:cNvPr>
          <p:cNvSpPr txBox="1"/>
          <p:nvPr/>
        </p:nvSpPr>
        <p:spPr>
          <a:xfrm>
            <a:off x="8740803" y="1162224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6</a:t>
            </a:r>
            <a:endParaRPr kumimoji="1" lang="zh-CN" altLang="en-US" sz="24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971B919F-8622-AFCD-68B1-FD05D586810B}"/>
              </a:ext>
            </a:extLst>
          </p:cNvPr>
          <p:cNvSpPr txBox="1"/>
          <p:nvPr/>
        </p:nvSpPr>
        <p:spPr>
          <a:xfrm>
            <a:off x="6786353" y="3080581"/>
            <a:ext cx="1708251" cy="523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最大数</a:t>
            </a:r>
            <a:r>
              <a:rPr lang="en-US" altLang="zh-CN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 </a:t>
            </a:r>
            <a:endParaRPr lang="zh-CN" altLang="en-US" sz="2800" dirty="0">
              <a:ln w="0"/>
              <a:solidFill>
                <a:srgbClr val="FF000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E4D4E040-26AE-6703-B660-DBCA5000CB52}"/>
              </a:ext>
            </a:extLst>
          </p:cNvPr>
          <p:cNvSpPr txBox="1"/>
          <p:nvPr/>
        </p:nvSpPr>
        <p:spPr>
          <a:xfrm>
            <a:off x="6748963" y="4656625"/>
            <a:ext cx="1708251" cy="523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最小数</a:t>
            </a:r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036C7742-67A2-5EE0-9842-2EECCC0007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3860" y="4304982"/>
            <a:ext cx="383228" cy="1904432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B8F9F482-585F-2EAC-C5B7-16C76679EE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775" y="3360963"/>
            <a:ext cx="383228" cy="2872051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3799C410-1E7D-D31A-3025-B0D34BBF5B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8690" y="4953033"/>
            <a:ext cx="383228" cy="1256723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14070B0E-03DB-7ACC-E3F1-D57DDD0498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2772" y="4624520"/>
            <a:ext cx="383228" cy="160849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30" grpId="0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表格 37">
            <a:extLst>
              <a:ext uri="{FF2B5EF4-FFF2-40B4-BE49-F238E27FC236}">
                <a16:creationId xmlns:a16="http://schemas.microsoft.com/office/drawing/2014/main" id="{F10D734E-C75A-0955-354D-62F1D2761F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243969"/>
              </p:ext>
            </p:extLst>
          </p:nvPr>
        </p:nvGraphicFramePr>
        <p:xfrm>
          <a:off x="2973177" y="2664263"/>
          <a:ext cx="3429000" cy="3810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359674207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7239308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5502585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9776415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57000954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5591773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9484281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764112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804595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15810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546695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036873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361794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213278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3166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95121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68608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6204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88872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822142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3649553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6718309" y="6301686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次数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130716" y="2205375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11" name="直接箭头连接符 50"/>
          <p:cNvCxnSpPr>
            <a:cxnSpLocks/>
          </p:cNvCxnSpPr>
          <p:nvPr/>
        </p:nvCxnSpPr>
        <p:spPr>
          <a:xfrm flipV="1">
            <a:off x="2973079" y="2335619"/>
            <a:ext cx="0" cy="41464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箭头连接符 51"/>
          <p:cNvCxnSpPr/>
          <p:nvPr/>
        </p:nvCxnSpPr>
        <p:spPr>
          <a:xfrm flipV="1">
            <a:off x="2981969" y="6469926"/>
            <a:ext cx="3736340" cy="146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2746817" y="634301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736224" y="5997179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733049" y="566185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733684" y="534488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731144" y="5029829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726064" y="472810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723524" y="441676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731779" y="4111862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729239" y="3772137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2733684" y="3441888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2654944" y="315345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3391593" y="3563335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4154492" y="3240455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4923922" y="387836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5610907" y="2291281"/>
            <a:ext cx="52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12</a:t>
            </a:r>
          </a:p>
        </p:txBody>
      </p:sp>
      <p:sp>
        <p:nvSpPr>
          <p:cNvPr id="44" name="文本框 43"/>
          <p:cNvSpPr txBox="1"/>
          <p:nvPr/>
        </p:nvSpPr>
        <p:spPr>
          <a:xfrm>
            <a:off x="5685633" y="423056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76639451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8299450" y="2682240"/>
            <a:ext cx="3142615" cy="39674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先出现一条前</a:t>
            </a:r>
            <a:r>
              <a:rPr lang="en-US" altLang="zh-CN" dirty="0"/>
              <a:t>3</a:t>
            </a:r>
            <a:r>
              <a:rPr lang="zh-CN" altLang="en-US" dirty="0"/>
              <a:t>次平均成绩线</a:t>
            </a:r>
            <a:r>
              <a:rPr lang="en-US" altLang="zh-CN" dirty="0"/>
              <a:t>8</a:t>
            </a:r>
            <a:r>
              <a:rPr lang="zh-CN" altLang="en-US" dirty="0"/>
              <a:t>分，再出现第</a:t>
            </a:r>
            <a:r>
              <a:rPr lang="en-US" altLang="zh-CN" dirty="0"/>
              <a:t>4</a:t>
            </a:r>
            <a:r>
              <a:rPr lang="zh-CN" altLang="en-US" dirty="0"/>
              <a:t>次的成绩</a:t>
            </a:r>
            <a:r>
              <a:rPr lang="en-US" altLang="zh-CN" dirty="0"/>
              <a:t>12</a:t>
            </a:r>
            <a:r>
              <a:rPr lang="zh-CN" altLang="en-US" dirty="0"/>
              <a:t>，然后第一条</a:t>
            </a:r>
            <a:r>
              <a:rPr lang="en-US" altLang="zh-CN" dirty="0"/>
              <a:t>8</a:t>
            </a:r>
            <a:r>
              <a:rPr lang="zh-CN" altLang="en-US" dirty="0"/>
              <a:t>分的平均线消失，出现</a:t>
            </a:r>
            <a:r>
              <a:rPr lang="en-US" altLang="zh-CN" dirty="0"/>
              <a:t>9</a:t>
            </a:r>
            <a:r>
              <a:rPr lang="zh-CN" altLang="en-US" dirty="0"/>
              <a:t>分的平均线，然后第四次成绩及平均分数线消失，平均线</a:t>
            </a:r>
            <a:r>
              <a:rPr lang="en-US" altLang="zh-CN" dirty="0"/>
              <a:t>8</a:t>
            </a:r>
            <a:r>
              <a:rPr lang="zh-CN" altLang="en-US" dirty="0"/>
              <a:t>继续出现，第四次成绩换成</a:t>
            </a:r>
            <a:r>
              <a:rPr lang="en-US" altLang="zh-CN" dirty="0"/>
              <a:t>4</a:t>
            </a:r>
            <a:r>
              <a:rPr lang="zh-CN" altLang="en-US" dirty="0"/>
              <a:t>分，然后平均线</a:t>
            </a:r>
            <a:r>
              <a:rPr lang="en-US" altLang="zh-CN" dirty="0"/>
              <a:t>8</a:t>
            </a:r>
            <a:r>
              <a:rPr lang="zh-CN" altLang="en-US" dirty="0"/>
              <a:t>消失，然后再出现平均分</a:t>
            </a:r>
            <a:r>
              <a:rPr lang="en-US" altLang="zh-CN" dirty="0"/>
              <a:t>7</a:t>
            </a:r>
            <a:r>
              <a:rPr lang="zh-CN" altLang="en-US" dirty="0"/>
              <a:t>分，然后消失，然后再出现平均线</a:t>
            </a:r>
            <a:r>
              <a:rPr lang="en-US" altLang="zh-CN" dirty="0"/>
              <a:t>8</a:t>
            </a:r>
            <a:r>
              <a:rPr lang="zh-CN" altLang="en-US" dirty="0"/>
              <a:t>分，最后出现第</a:t>
            </a:r>
            <a:r>
              <a:rPr lang="en-US" altLang="zh-CN" dirty="0"/>
              <a:t>4</a:t>
            </a:r>
            <a:r>
              <a:rPr lang="zh-CN" altLang="en-US" dirty="0"/>
              <a:t>次成绩</a:t>
            </a:r>
            <a:r>
              <a:rPr lang="en-US" altLang="zh-CN" dirty="0"/>
              <a:t>8</a:t>
            </a:r>
            <a:r>
              <a:rPr lang="zh-CN" altLang="en-US" dirty="0"/>
              <a:t>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9F78CC-EC95-EDAA-22DC-2182B6C3946E}"/>
              </a:ext>
            </a:extLst>
          </p:cNvPr>
          <p:cNvSpPr txBox="1"/>
          <p:nvPr/>
        </p:nvSpPr>
        <p:spPr>
          <a:xfrm>
            <a:off x="2659060" y="2811574"/>
            <a:ext cx="48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11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2A30B00-19FD-17DE-1B29-4E61E46782D3}"/>
              </a:ext>
            </a:extLst>
          </p:cNvPr>
          <p:cNvSpPr txBox="1"/>
          <p:nvPr/>
        </p:nvSpPr>
        <p:spPr>
          <a:xfrm>
            <a:off x="2663177" y="2469701"/>
            <a:ext cx="48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12</a:t>
            </a: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E37F497E-87D8-ED29-4BDA-35231884E4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8681" y="3929630"/>
            <a:ext cx="395416" cy="2552395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5EFFC4A8-2DCC-7528-B0E0-D0926785F4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5821" y="3620090"/>
            <a:ext cx="395416" cy="2861935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957241CC-4944-5A71-70EA-DD69157C5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7461" y="4250242"/>
            <a:ext cx="395416" cy="2231782"/>
          </a:xfrm>
          <a:prstGeom prst="rect">
            <a:avLst/>
          </a:prstGeom>
        </p:spPr>
      </p:pic>
      <p:pic>
        <p:nvPicPr>
          <p:cNvPr id="58" name="图片 57">
            <a:extLst>
              <a:ext uri="{FF2B5EF4-FFF2-40B4-BE49-F238E27FC236}">
                <a16:creationId xmlns:a16="http://schemas.microsoft.com/office/drawing/2014/main" id="{2290DBAA-BF8D-97D3-D4E6-0744120040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5289" y="2654382"/>
            <a:ext cx="395416" cy="3820918"/>
          </a:xfrm>
          <a:prstGeom prst="rect">
            <a:avLst/>
          </a:prstGeom>
        </p:spPr>
      </p:pic>
      <p:grpSp>
        <p:nvGrpSpPr>
          <p:cNvPr id="49" name="组合 48">
            <a:extLst>
              <a:ext uri="{FF2B5EF4-FFF2-40B4-BE49-F238E27FC236}">
                <a16:creationId xmlns:a16="http://schemas.microsoft.com/office/drawing/2014/main" id="{2B967DB1-88A6-98C5-D269-F58ED6572543}"/>
              </a:ext>
            </a:extLst>
          </p:cNvPr>
          <p:cNvGrpSpPr/>
          <p:nvPr/>
        </p:nvGrpSpPr>
        <p:grpSpPr>
          <a:xfrm>
            <a:off x="2976571" y="3666783"/>
            <a:ext cx="5432425" cy="521970"/>
            <a:chOff x="7193" y="3503"/>
            <a:chExt cx="8122" cy="822"/>
          </a:xfrm>
        </p:grpSpPr>
        <p:cxnSp>
          <p:nvCxnSpPr>
            <p:cNvPr id="50" name="直接连接符 12">
              <a:extLst>
                <a:ext uri="{FF2B5EF4-FFF2-40B4-BE49-F238E27FC236}">
                  <a16:creationId xmlns:a16="http://schemas.microsoft.com/office/drawing/2014/main" id="{429FD07B-CADE-97D6-F96C-934A7D460A0E}"/>
                </a:ext>
              </a:extLst>
            </p:cNvPr>
            <p:cNvCxnSpPr>
              <a:endCxn id="5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1F539400-0F3F-53D4-706C-FA15B81A47B7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416D32A3-E91E-6645-1E61-AA99042C3C9B}"/>
              </a:ext>
            </a:extLst>
          </p:cNvPr>
          <p:cNvGrpSpPr/>
          <p:nvPr/>
        </p:nvGrpSpPr>
        <p:grpSpPr>
          <a:xfrm>
            <a:off x="2968951" y="3348802"/>
            <a:ext cx="5432425" cy="521970"/>
            <a:chOff x="7193" y="3503"/>
            <a:chExt cx="8122" cy="822"/>
          </a:xfrm>
        </p:grpSpPr>
        <p:cxnSp>
          <p:nvCxnSpPr>
            <p:cNvPr id="63" name="直接连接符 12">
              <a:extLst>
                <a:ext uri="{FF2B5EF4-FFF2-40B4-BE49-F238E27FC236}">
                  <a16:creationId xmlns:a16="http://schemas.microsoft.com/office/drawing/2014/main" id="{80110F12-A596-3ECD-F631-0D40CE439141}"/>
                </a:ext>
              </a:extLst>
            </p:cNvPr>
            <p:cNvCxnSpPr>
              <a:endCxn id="64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996484AE-0C68-6FB0-2860-6165F077FBCE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9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8B760A35-FFFF-0229-2035-45EC7B2D2E5D}"/>
              </a:ext>
            </a:extLst>
          </p:cNvPr>
          <p:cNvGrpSpPr/>
          <p:nvPr/>
        </p:nvGrpSpPr>
        <p:grpSpPr>
          <a:xfrm>
            <a:off x="2976571" y="3662321"/>
            <a:ext cx="5432425" cy="521970"/>
            <a:chOff x="7193" y="3503"/>
            <a:chExt cx="8122" cy="822"/>
          </a:xfrm>
        </p:grpSpPr>
        <p:cxnSp>
          <p:nvCxnSpPr>
            <p:cNvPr id="66" name="直接连接符 12">
              <a:extLst>
                <a:ext uri="{FF2B5EF4-FFF2-40B4-BE49-F238E27FC236}">
                  <a16:creationId xmlns:a16="http://schemas.microsoft.com/office/drawing/2014/main" id="{95932B02-8A8E-8688-FF17-080E8D66709C}"/>
                </a:ext>
              </a:extLst>
            </p:cNvPr>
            <p:cNvCxnSpPr>
              <a:endCxn id="6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BF9271DE-D6A9-F9BA-9397-30B708FEEA51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pic>
        <p:nvPicPr>
          <p:cNvPr id="68" name="图片 67">
            <a:extLst>
              <a:ext uri="{FF2B5EF4-FFF2-40B4-BE49-F238E27FC236}">
                <a16:creationId xmlns:a16="http://schemas.microsoft.com/office/drawing/2014/main" id="{E0386468-8C95-A0AE-77C4-F975E691D3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468" y="4555946"/>
            <a:ext cx="395416" cy="1914310"/>
          </a:xfrm>
          <a:prstGeom prst="rect">
            <a:avLst/>
          </a:prstGeom>
        </p:spPr>
      </p:pic>
      <p:grpSp>
        <p:nvGrpSpPr>
          <p:cNvPr id="69" name="组合 68">
            <a:extLst>
              <a:ext uri="{FF2B5EF4-FFF2-40B4-BE49-F238E27FC236}">
                <a16:creationId xmlns:a16="http://schemas.microsoft.com/office/drawing/2014/main" id="{99B2C22F-A4DE-A4B5-60F2-764EAA699198}"/>
              </a:ext>
            </a:extLst>
          </p:cNvPr>
          <p:cNvGrpSpPr/>
          <p:nvPr/>
        </p:nvGrpSpPr>
        <p:grpSpPr>
          <a:xfrm>
            <a:off x="2961649" y="3834572"/>
            <a:ext cx="5568871" cy="523240"/>
            <a:chOff x="7193" y="3503"/>
            <a:chExt cx="8326" cy="824"/>
          </a:xfrm>
        </p:grpSpPr>
        <p:cxnSp>
          <p:nvCxnSpPr>
            <p:cNvPr id="70" name="直接连接符 12">
              <a:extLst>
                <a:ext uri="{FF2B5EF4-FFF2-40B4-BE49-F238E27FC236}">
                  <a16:creationId xmlns:a16="http://schemas.microsoft.com/office/drawing/2014/main" id="{51815107-F288-7602-09B5-1AF16FFA2D46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7193" y="3915"/>
              <a:ext cx="5568" cy="0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C336A340-501A-B28E-377F-5569EFEBB45A}"/>
                </a:ext>
              </a:extLst>
            </p:cNvPr>
            <p:cNvSpPr txBox="1"/>
            <p:nvPr/>
          </p:nvSpPr>
          <p:spPr>
            <a:xfrm>
              <a:off x="12761" y="3503"/>
              <a:ext cx="2758" cy="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7.5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sp>
        <p:nvSpPr>
          <p:cNvPr id="75" name="文本框 74">
            <a:extLst>
              <a:ext uri="{FF2B5EF4-FFF2-40B4-BE49-F238E27FC236}">
                <a16:creationId xmlns:a16="http://schemas.microsoft.com/office/drawing/2014/main" id="{B5D4B7DB-7094-68F9-EEE8-B7BB8EEB0412}"/>
              </a:ext>
            </a:extLst>
          </p:cNvPr>
          <p:cNvSpPr txBox="1"/>
          <p:nvPr/>
        </p:nvSpPr>
        <p:spPr>
          <a:xfrm>
            <a:off x="7381553" y="1619430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pic>
        <p:nvPicPr>
          <p:cNvPr id="76" name="图片 75">
            <a:extLst>
              <a:ext uri="{FF2B5EF4-FFF2-40B4-BE49-F238E27FC236}">
                <a16:creationId xmlns:a16="http://schemas.microsoft.com/office/drawing/2014/main" id="{4AB05190-2B23-F2E5-94A6-3FB335078B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080" y="3916973"/>
            <a:ext cx="395416" cy="2545190"/>
          </a:xfrm>
          <a:prstGeom prst="rect">
            <a:avLst/>
          </a:prstGeom>
        </p:spPr>
      </p:pic>
      <p:sp>
        <p:nvSpPr>
          <p:cNvPr id="77" name="文本框 76">
            <a:extLst>
              <a:ext uri="{FF2B5EF4-FFF2-40B4-BE49-F238E27FC236}">
                <a16:creationId xmlns:a16="http://schemas.microsoft.com/office/drawing/2014/main" id="{26B109CC-6D9A-6EE7-524C-53B2167B2C82}"/>
              </a:ext>
            </a:extLst>
          </p:cNvPr>
          <p:cNvSpPr txBox="1"/>
          <p:nvPr/>
        </p:nvSpPr>
        <p:spPr>
          <a:xfrm>
            <a:off x="5701028" y="3555239"/>
            <a:ext cx="52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6B3AA7A5-CBB0-42E2-8333-42278A486474}"/>
              </a:ext>
            </a:extLst>
          </p:cNvPr>
          <p:cNvSpPr txBox="1"/>
          <p:nvPr/>
        </p:nvSpPr>
        <p:spPr>
          <a:xfrm>
            <a:off x="8720201" y="1623548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826D542C-9C9D-4BD9-2281-540CD00B84F9}"/>
              </a:ext>
            </a:extLst>
          </p:cNvPr>
          <p:cNvGrpSpPr/>
          <p:nvPr/>
        </p:nvGrpSpPr>
        <p:grpSpPr>
          <a:xfrm>
            <a:off x="2984190" y="3668645"/>
            <a:ext cx="5432424" cy="521970"/>
            <a:chOff x="7193" y="3503"/>
            <a:chExt cx="8122" cy="822"/>
          </a:xfrm>
        </p:grpSpPr>
        <p:cxnSp>
          <p:nvCxnSpPr>
            <p:cNvPr id="5" name="直接连接符 12">
              <a:extLst>
                <a:ext uri="{FF2B5EF4-FFF2-40B4-BE49-F238E27FC236}">
                  <a16:creationId xmlns:a16="http://schemas.microsoft.com/office/drawing/2014/main" id="{FBA406DA-9794-6E68-DA8B-87B29B182250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24887752-2F3A-E152-EE89-8309C5240014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9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90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9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7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900" decel="100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900" decel="100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0" grpId="1"/>
      <p:bldP spid="44" grpId="0"/>
      <p:bldP spid="44" grpId="1"/>
      <p:bldP spid="75" grpId="0"/>
      <p:bldP spid="77" grpId="0"/>
      <p:bldP spid="7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图片 142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44" name="图片 143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5" name="图片 14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64" name="矩形 63"/>
          <p:cNvSpPr/>
          <p:nvPr/>
        </p:nvSpPr>
        <p:spPr>
          <a:xfrm>
            <a:off x="7060565" y="6268720"/>
            <a:ext cx="1467485" cy="2298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351915" y="958215"/>
            <a:ext cx="94881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</a:rPr>
              <a:t>请根据男生队和女生队的投球情况，比一比，哪个队好一些？</a:t>
            </a:r>
          </a:p>
        </p:txBody>
      </p:sp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1708785" y="2645410"/>
          <a:ext cx="2795270" cy="3079750"/>
        </p:xfrm>
        <a:graphic>
          <a:graphicData uri="http://schemas.openxmlformats.org/drawingml/2006/table">
            <a:tbl>
              <a:tblPr firstRow="1">
                <a:tableStyleId>{431C1316-3D13-47B2-8BB8-DB9387CCB30D}</a:tableStyleId>
              </a:tblPr>
              <a:tblGrid>
                <a:gridCol w="1397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7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成绩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2446655" y="1979295"/>
            <a:ext cx="17094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>
                <a:latin typeface="楷体" panose="02010609060101010101" pitchFamily="49" charset="-122"/>
                <a:ea typeface="楷体" panose="02010609060101010101" pitchFamily="49" charset="-122"/>
              </a:rPr>
              <a:t>男生队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108825" y="1979295"/>
            <a:ext cx="17094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>
                <a:latin typeface="楷体" panose="02010609060101010101" pitchFamily="49" charset="-122"/>
                <a:ea typeface="楷体" panose="02010609060101010101" pitchFamily="49" charset="-122"/>
              </a:rPr>
              <a:t>女生队</a:t>
            </a:r>
          </a:p>
        </p:txBody>
      </p:sp>
      <p:graphicFrame>
        <p:nvGraphicFramePr>
          <p:cNvPr id="11" name="表格 10"/>
          <p:cNvGraphicFramePr/>
          <p:nvPr>
            <p:custDataLst>
              <p:tags r:id="rId2"/>
            </p:custDataLst>
          </p:nvPr>
        </p:nvGraphicFramePr>
        <p:xfrm>
          <a:off x="6211570" y="2641600"/>
          <a:ext cx="3036570" cy="3507740"/>
        </p:xfrm>
        <a:graphic>
          <a:graphicData uri="http://schemas.openxmlformats.org/drawingml/2006/table">
            <a:tbl>
              <a:tblPr firstRow="1">
                <a:tableStyleId>{0503B946-CA36-49A4-B27B-869D69C26D61}</a:tableStyleId>
              </a:tblPr>
              <a:tblGrid>
                <a:gridCol w="15182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2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800" b="1"/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800" b="1" dirty="0" err="1"/>
                        <a:t>成绩</a:t>
                      </a:r>
                      <a:endParaRPr lang="en-US" altLang="zh-CN" sz="2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14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>
                          <a:sym typeface="+mn-ea"/>
                        </a:rPr>
                        <a:t>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>
                          <a:sym typeface="+mn-ea"/>
                        </a:rPr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56" name="图片 55" descr="360截图202501261730546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5760" y="1163955"/>
            <a:ext cx="4451350" cy="458216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984750" y="483870"/>
            <a:ext cx="296227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楷体" panose="02010609060101010101" pitchFamily="49" charset="-122"/>
                <a:ea typeface="楷体" panose="02010609060101010101" pitchFamily="49" charset="-122"/>
              </a:rPr>
              <a:t>女生队投进个数统计图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4749800" y="116395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11</a:t>
            </a:r>
          </a:p>
        </p:txBody>
      </p:sp>
      <p:sp>
        <p:nvSpPr>
          <p:cNvPr id="53" name="文本框 52"/>
          <p:cNvSpPr txBox="1"/>
          <p:nvPr/>
        </p:nvSpPr>
        <p:spPr>
          <a:xfrm>
            <a:off x="5536565" y="370332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55" name="文本框 54"/>
          <p:cNvSpPr txBox="1"/>
          <p:nvPr/>
        </p:nvSpPr>
        <p:spPr>
          <a:xfrm>
            <a:off x="6967220" y="3385820"/>
            <a:ext cx="480695" cy="258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36" name="矩形 35"/>
          <p:cNvSpPr/>
          <p:nvPr/>
        </p:nvSpPr>
        <p:spPr>
          <a:xfrm>
            <a:off x="4792980" y="2549525"/>
            <a:ext cx="346075" cy="7143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4800600" y="3258820"/>
            <a:ext cx="340995" cy="216662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00600" y="1443990"/>
            <a:ext cx="339090" cy="7651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6929755" y="3644265"/>
            <a:ext cx="338455" cy="17811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209030" y="3291840"/>
            <a:ext cx="337820" cy="21272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6222365" y="297307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7657465" y="372872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61" name="矩形 60"/>
          <p:cNvSpPr/>
          <p:nvPr/>
        </p:nvSpPr>
        <p:spPr>
          <a:xfrm>
            <a:off x="5506720" y="4003040"/>
            <a:ext cx="346075" cy="14160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803140" y="2199640"/>
            <a:ext cx="338455" cy="36322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7616190" y="4003040"/>
            <a:ext cx="339090" cy="14160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7" name="组合 66"/>
          <p:cNvGrpSpPr/>
          <p:nvPr/>
        </p:nvGrpSpPr>
        <p:grpSpPr>
          <a:xfrm>
            <a:off x="4186555" y="3069590"/>
            <a:ext cx="6475730" cy="398780"/>
            <a:chOff x="7193" y="3784"/>
            <a:chExt cx="8122" cy="628"/>
          </a:xfrm>
        </p:grpSpPr>
        <p:cxnSp>
          <p:nvCxnSpPr>
            <p:cNvPr id="68" name="直接连接符 67"/>
            <p:cNvCxnSpPr>
              <a:endCxn id="69" idx="1"/>
            </p:cNvCxnSpPr>
            <p:nvPr/>
          </p:nvCxnSpPr>
          <p:spPr>
            <a:xfrm flipV="1">
              <a:off x="7193" y="4098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文本框 68"/>
            <p:cNvSpPr txBox="1"/>
            <p:nvPr/>
          </p:nvSpPr>
          <p:spPr>
            <a:xfrm>
              <a:off x="12761" y="3784"/>
              <a:ext cx="255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0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 6</a:t>
              </a:r>
              <a:endParaRPr lang="zh-CN" altLang="en-US" sz="20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2" name="图片 11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2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sp>
        <p:nvSpPr>
          <p:cNvPr id="4" name="直角上箭头 3"/>
          <p:cNvSpPr/>
          <p:nvPr/>
        </p:nvSpPr>
        <p:spPr>
          <a:xfrm rot="16200000">
            <a:off x="7072630" y="1147445"/>
            <a:ext cx="1144905" cy="2369820"/>
          </a:xfrm>
          <a:prstGeom prst="bentUpArrow">
            <a:avLst>
              <a:gd name="adj1" fmla="val 25000"/>
              <a:gd name="adj2" fmla="val 24992"/>
              <a:gd name="adj3" fmla="val 25000"/>
            </a:avLst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 descr="360截图2025021422053287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8420" y="2987675"/>
            <a:ext cx="7676515" cy="3128645"/>
          </a:xfrm>
          <a:prstGeom prst="rect">
            <a:avLst/>
          </a:prstGeom>
          <a:ln w="57150">
            <a:solidFill>
              <a:srgbClr val="FF0000"/>
            </a:solidFill>
          </a:ln>
        </p:spPr>
      </p:pic>
      <p:pic>
        <p:nvPicPr>
          <p:cNvPr id="6" name="图片 5" descr="360截图2025021422090529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2935" y="1138555"/>
            <a:ext cx="1936115" cy="1520825"/>
          </a:xfrm>
          <a:prstGeom prst="rect">
            <a:avLst/>
          </a:prstGeom>
          <a:ln w="57150">
            <a:solidFill>
              <a:schemeClr val="accent3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6" name="图片 5" descr="图片包含 游戏机, 钟表, 仪表&#10;&#10;描述已自动生成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6000"/>
                    </a14:imgEffect>
                    <a14:imgEffect>
                      <a14:sharpenSoften amount="9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48715" y="1988185"/>
            <a:ext cx="9895205" cy="300418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"/>
            </p:custDataLst>
          </p:nvPr>
        </p:nvSpPr>
        <p:spPr>
          <a:xfrm>
            <a:off x="2367118" y="5462318"/>
            <a:ext cx="1321991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店铺</a:t>
            </a:r>
            <a:r>
              <a:rPr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A</a:t>
            </a:r>
            <a:endParaRPr lang="zh-CN" altLang="en-US" sz="2800" b="1" dirty="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2"/>
            </p:custDataLst>
          </p:nvPr>
        </p:nvSpPr>
        <p:spPr>
          <a:xfrm>
            <a:off x="8031961" y="5445888"/>
            <a:ext cx="1321991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店铺</a:t>
            </a:r>
            <a:r>
              <a:rPr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B</a:t>
            </a:r>
            <a:endParaRPr lang="zh-CN" altLang="en-US" sz="2800" b="1" dirty="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1" name="椭圆 10"/>
          <p:cNvSpPr/>
          <p:nvPr>
            <p:custDataLst>
              <p:tags r:id="rId3"/>
            </p:custDataLst>
          </p:nvPr>
        </p:nvSpPr>
        <p:spPr>
          <a:xfrm>
            <a:off x="3761105" y="2465705"/>
            <a:ext cx="701040" cy="243459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4"/>
            </p:custDataLst>
          </p:nvPr>
        </p:nvSpPr>
        <p:spPr>
          <a:xfrm>
            <a:off x="9102090" y="2528570"/>
            <a:ext cx="739140" cy="244792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0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2" grpId="0" bldLvl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5" name="文本框 4"/>
          <p:cNvSpPr txBox="1"/>
          <p:nvPr/>
        </p:nvSpPr>
        <p:spPr>
          <a:xfrm>
            <a:off x="584200" y="1314450"/>
            <a:ext cx="3900170" cy="18167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eaLnBrk="1" hangingPunct="1">
              <a:lnSpc>
                <a:spcPct val="120000"/>
              </a:lnSpc>
            </a:pP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一个池塘的水平均深度是</a:t>
            </a:r>
            <a:r>
              <a:rPr lang="en-US" altLang="zh-CN" sz="3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  <a:sym typeface="+mn-ea"/>
              </a:rPr>
              <a:t>110</a:t>
            </a:r>
            <a:r>
              <a:rPr lang="en-US" altLang="zh-CN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cm,</a:t>
            </a: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小明身高</a:t>
            </a:r>
            <a:r>
              <a:rPr lang="en-US" altLang="zh-CN" sz="3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  <a:sym typeface="+mn-ea"/>
              </a:rPr>
              <a:t>140</a:t>
            </a:r>
            <a:r>
              <a:rPr lang="en-US" altLang="zh-CN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cm,</a:t>
            </a: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他下水游泳会不会有危险？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4855" y="1437640"/>
            <a:ext cx="7283450" cy="40322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4" name="文本框 3"/>
          <p:cNvSpPr txBox="1"/>
          <p:nvPr/>
        </p:nvSpPr>
        <p:spPr>
          <a:xfrm>
            <a:off x="542001" y="2423689"/>
            <a:ext cx="6728749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目前中国女性平均寿命约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74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岁</a:t>
            </a:r>
          </a:p>
        </p:txBody>
      </p:sp>
      <p:sp>
        <p:nvSpPr>
          <p:cNvPr id="9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525" y="2031365"/>
            <a:ext cx="4114800" cy="4133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9" name="图片 8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4" name="文本框 3"/>
          <p:cNvSpPr txBox="1"/>
          <p:nvPr/>
        </p:nvSpPr>
        <p:spPr>
          <a:xfrm>
            <a:off x="1242253" y="2247135"/>
            <a:ext cx="5564947" cy="156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如果酒店按照旅客的</a:t>
            </a:r>
            <a:r>
              <a:rPr lang="zh-CN" altLang="en-US" sz="32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平均身高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来订购这批新床，这样做合理吗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?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为什么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?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1823720" y="624840"/>
            <a:ext cx="1717675" cy="50419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辨一辨</a:t>
            </a:r>
          </a:p>
        </p:txBody>
      </p:sp>
      <p:pic>
        <p:nvPicPr>
          <p:cNvPr id="2" name="图片 1" descr="173789287515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1797050"/>
            <a:ext cx="3263900" cy="32639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5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5" name="矩形: 圆角 4"/>
          <p:cNvSpPr/>
          <p:nvPr/>
        </p:nvSpPr>
        <p:spPr>
          <a:xfrm>
            <a:off x="1734820" y="626110"/>
            <a:ext cx="2343150" cy="71310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你知道吗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862333" y="2361236"/>
            <a:ext cx="2164466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平均数</a:t>
            </a:r>
            <a:r>
              <a:rPr lang="en-US" altLang="zh-CN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 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287154" y="2361236"/>
            <a:ext cx="2164466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众数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8753475" y="2360930"/>
            <a:ext cx="192278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中位数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650375" y="4155311"/>
            <a:ext cx="21644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4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29&quot;:[50052696,50052704,50053246],&quot;8&quot;:[4610354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20*242"/>
  <p:tag name="TABLE_ENDDRAG_RECT" val="143*207*220*24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39*275"/>
  <p:tag name="TABLE_ENDDRAG_RECT" val="489*208*239*27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heme/theme1.xml><?xml version="1.0" encoding="utf-8"?>
<a:theme xmlns:a="http://schemas.openxmlformats.org/drawingml/2006/main" name="Office 主题​​">
  <a:themeElements>
    <a:clrScheme name="紫罗兰色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E32D91"/>
      </a:accent1>
      <a:accent2>
        <a:srgbClr val="EEB5C7"/>
      </a:accent2>
      <a:accent3>
        <a:srgbClr val="4EA6DC"/>
      </a:accent3>
      <a:accent4>
        <a:srgbClr val="4775E7"/>
      </a:accent4>
      <a:accent5>
        <a:srgbClr val="8971E1"/>
      </a:accent5>
      <a:accent6>
        <a:srgbClr val="C830CC"/>
      </a:accent6>
      <a:hlink>
        <a:srgbClr val="0066FF"/>
      </a:hlink>
      <a:folHlink>
        <a:srgbClr val="666699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紫罗兰色 II">
    <a:dk1>
      <a:sysClr val="windowText" lastClr="000000"/>
    </a:dk1>
    <a:lt1>
      <a:sysClr val="window" lastClr="FFFFFF"/>
    </a:lt1>
    <a:dk2>
      <a:srgbClr val="632E62"/>
    </a:dk2>
    <a:lt2>
      <a:srgbClr val="EAE5EB"/>
    </a:lt2>
    <a:accent1>
      <a:srgbClr val="E32D91"/>
    </a:accent1>
    <a:accent2>
      <a:srgbClr val="EEB5C7"/>
    </a:accent2>
    <a:accent3>
      <a:srgbClr val="4EA6DC"/>
    </a:accent3>
    <a:accent4>
      <a:srgbClr val="4775E7"/>
    </a:accent4>
    <a:accent5>
      <a:srgbClr val="8971E1"/>
    </a:accent5>
    <a:accent6>
      <a:srgbClr val="C830CC"/>
    </a:accent6>
    <a:hlink>
      <a:srgbClr val="0066FF"/>
    </a:hlink>
    <a:folHlink>
      <a:srgbClr val="666699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1771</TotalTime>
  <Words>709</Words>
  <Application>Microsoft Macintosh PowerPoint</Application>
  <PresentationFormat>宽屏</PresentationFormat>
  <Paragraphs>459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等线</vt:lpstr>
      <vt:lpstr>等线 Light</vt:lpstr>
      <vt:lpstr>楷体</vt:lpstr>
      <vt:lpstr>南宋书局体</vt:lpstr>
      <vt:lpstr>微软雅黑</vt:lpstr>
      <vt:lpstr>Arial</vt:lpstr>
      <vt:lpstr>Calibri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郑 林芝</dc:creator>
  <cp:lastModifiedBy>didi</cp:lastModifiedBy>
  <cp:revision>35</cp:revision>
  <dcterms:created xsi:type="dcterms:W3CDTF">2023-02-15T06:34:00Z</dcterms:created>
  <dcterms:modified xsi:type="dcterms:W3CDTF">2026-04-08T14:00:44Z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106E7063817C4EB8AB35FD0353A766CE_13</vt:lpwstr>
  </property>
  <property fmtid="{D5CDD505-2E9C-101B-9397-08002B2CF9AE}" pid="3" name="KSOProductBuildVer">
    <vt:lpwstr>2052-12.1.0.25225</vt:lpwstr>
  </property>
</Properties>
</file>