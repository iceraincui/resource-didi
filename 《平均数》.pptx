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Override1.xml" ContentType="application/vnd.openxmlformats-officedocument.themeOverrid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359" r:id="rId3"/>
    <p:sldId id="360" r:id="rId4"/>
    <p:sldId id="361" r:id="rId5"/>
    <p:sldId id="321" r:id="rId6"/>
    <p:sldId id="358" r:id="rId7"/>
    <p:sldId id="273" r:id="rId8"/>
    <p:sldId id="276" r:id="rId9"/>
    <p:sldId id="274" r:id="rId10"/>
    <p:sldId id="275" r:id="rId11"/>
    <p:sldId id="278" r:id="rId12"/>
    <p:sldId id="279" r:id="rId13"/>
  </p:sldIdLst>
  <p:sldSz cx="12192000" cy="6858000"/>
  <p:notesSz cx="6858000" cy="9144000"/>
  <p:custDataLst>
    <p:tags r:id="rId15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362" userDrawn="1">
          <p15:clr>
            <a:srgbClr val="A4A3A4"/>
          </p15:clr>
        </p15:guide>
        <p15:guide id="2" pos="383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AAF8"/>
    <a:srgbClr val="FFFFFF"/>
    <a:srgbClr val="00ADF8"/>
    <a:srgbClr val="040201"/>
    <a:srgbClr val="FF1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36826C-F471-4F4D-A487-091D767684D0}" styleName="表样式 1 17">
    <a:wholeTbl>
      <a:tcTxStyle>
        <a:fontRef idx="none">
          <a:srgbClr val="000000"/>
        </a:fontRef>
      </a:tcTxStyle>
      <a:tcStyle>
        <a:tcBdr>
          <a:left>
            <a:ln w="9525" cmpd="sng">
              <a:solidFill>
                <a:srgbClr val="72B8DA"/>
              </a:solidFill>
              <a:prstDash val="solid"/>
            </a:ln>
          </a:left>
          <a:right>
            <a:ln w="9525" cmpd="sng">
              <a:solidFill>
                <a:srgbClr val="72B8DA"/>
              </a:solidFill>
              <a:prstDash val="solid"/>
            </a:ln>
          </a:right>
          <a:top>
            <a:ln w="9525" cmpd="sng">
              <a:solidFill>
                <a:srgbClr val="72B8DA"/>
              </a:solidFill>
              <a:prstDash val="solid"/>
            </a:ln>
          </a:top>
          <a:bottom>
            <a:ln w="9525" cmpd="sng">
              <a:solidFill>
                <a:srgbClr val="72B8DA"/>
              </a:solidFill>
              <a:prstDash val="solid"/>
            </a:ln>
          </a:bottom>
          <a:insideH>
            <a:ln w="9525" cmpd="sng">
              <a:solidFill>
                <a:srgbClr val="72B8DA"/>
              </a:solidFill>
              <a:prstDash val="solid"/>
            </a:ln>
          </a:insideH>
          <a:insideV>
            <a:ln w="9525" cmpd="sng">
              <a:solidFill>
                <a:srgbClr val="72B8DA"/>
              </a:solidFill>
              <a:prstDash val="solid"/>
            </a:ln>
          </a:insideV>
        </a:tcBdr>
        <a:fill>
          <a:solidFill>
            <a:srgbClr val="FFFFFF"/>
          </a:solidFill>
        </a:fill>
      </a:tcStyle>
    </a:wholeTbl>
    <a:band1H>
      <a:tcStyle>
        <a:tcBdr/>
        <a:fill>
          <a:solidFill>
            <a:srgbClr val="72B8DA">
              <a:lumMod val="20000"/>
              <a:lumOff val="80000"/>
            </a:srgbClr>
          </a:solidFill>
        </a:fill>
      </a:tcStyle>
    </a:band1H>
    <a:band2V>
      <a:tcStyle>
        <a:tcBdr/>
        <a:fill>
          <a:solidFill>
            <a:srgbClr val="72B8DA">
              <a:lumMod val="20000"/>
              <a:lumOff val="80000"/>
            </a:srgbClr>
          </a:solidFill>
        </a:fill>
      </a:tcStyle>
    </a:band2V>
    <a:lastCol>
      <a:tcTxStyle b="on">
        <a:fontRef idx="none">
          <a:srgbClr val="08090C"/>
        </a:fontRef>
      </a:tcTxStyle>
      <a:tcStyle>
        <a:tcBdr>
          <a:left>
            <a:ln w="9525" cmpd="sng">
              <a:solidFill>
                <a:srgbClr val="72B8DA"/>
              </a:solidFill>
              <a:prstDash val="solid"/>
            </a:ln>
          </a:left>
          <a:right>
            <a:ln w="9525" cmpd="sng">
              <a:solidFill>
                <a:srgbClr val="72B8DA"/>
              </a:solidFill>
              <a:prstDash val="solid"/>
            </a:ln>
          </a:right>
          <a:top>
            <a:ln w="9525" cmpd="sng">
              <a:solidFill>
                <a:srgbClr val="72B8DA"/>
              </a:solidFill>
              <a:prstDash val="solid"/>
            </a:ln>
          </a:top>
          <a:bottom>
            <a:ln w="9525" cmpd="sng">
              <a:solidFill>
                <a:srgbClr val="72B8DA"/>
              </a:solidFill>
              <a:prstDash val="solid"/>
            </a:ln>
          </a:bottom>
          <a:insideH>
            <a:ln w="9525" cmpd="sng">
              <a:solidFill>
                <a:srgbClr val="72B8DA"/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rgbClr val="72B8DA">
              <a:lumMod val="20000"/>
              <a:lumOff val="80000"/>
            </a:srgbClr>
          </a:solidFill>
        </a:fill>
      </a:tcStyle>
    </a:lastCol>
    <a:firstCol>
      <a:tcTxStyle b="on">
        <a:fontRef idx="none">
          <a:srgbClr val="FFFFFF"/>
        </a:fontRef>
      </a:tcTxStyle>
      <a:tcStyle>
        <a:tcBdr>
          <a:left>
            <a:ln w="9525" cmpd="sng">
              <a:solidFill>
                <a:srgbClr val="72B8DA"/>
              </a:solidFill>
              <a:prstDash val="solid"/>
            </a:ln>
          </a:left>
          <a:right>
            <a:ln w="9525" cmpd="sng">
              <a:solidFill>
                <a:srgbClr val="72B8DA"/>
              </a:solidFill>
              <a:prstDash val="solid"/>
            </a:ln>
          </a:right>
          <a:top>
            <a:ln w="9525" cmpd="sng">
              <a:solidFill>
                <a:srgbClr val="72B8DA"/>
              </a:solidFill>
              <a:prstDash val="solid"/>
            </a:ln>
          </a:top>
          <a:bottom>
            <a:ln w="9525" cmpd="sng">
              <a:solidFill>
                <a:srgbClr val="72B8DA"/>
              </a:solidFill>
              <a:prstDash val="solid"/>
            </a:ln>
          </a:bottom>
          <a:insideH>
            <a:ln w="9525" cmpd="sng">
              <a:solidFill>
                <a:srgbClr val="72B8DA">
                  <a:lumMod val="40000"/>
                  <a:lumOff val="60000"/>
                </a:srgbClr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rgbClr val="72B8DA"/>
          </a:solidFill>
        </a:fill>
      </a:tcStyle>
    </a:firstCol>
    <a:lastRow>
      <a:tcTxStyle b="on">
        <a:fontRef idx="none">
          <a:srgbClr val="72B8DA"/>
        </a:fontRef>
      </a:tcTxStyle>
      <a:tcStyle>
        <a:tcBdr>
          <a:left>
            <a:ln w="9525" cmpd="sng">
              <a:solidFill>
                <a:srgbClr val="72B8DA"/>
              </a:solidFill>
              <a:prstDash val="solid"/>
            </a:ln>
          </a:left>
          <a:right>
            <a:ln w="9525" cmpd="sng">
              <a:solidFill>
                <a:srgbClr val="72B8DA"/>
              </a:solidFill>
              <a:prstDash val="solid"/>
            </a:ln>
          </a:right>
          <a:top>
            <a:ln w="9525" cmpd="sng">
              <a:solidFill>
                <a:srgbClr val="72B8DA"/>
              </a:solidFill>
              <a:prstDash val="solid"/>
            </a:ln>
          </a:top>
          <a:bottom>
            <a:ln w="9525" cmpd="sng">
              <a:solidFill>
                <a:srgbClr val="72B8DA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lastRow>
    <a:swCell>
      <a:tcTxStyle b="on">
        <a:fontRef idx="none">
          <a:srgbClr val="FFFFFF"/>
        </a:fontRef>
      </a:tcTxStyle>
      <a:tcStyle>
        <a:tcBdr>
          <a:left>
            <a:ln w="9525" cmpd="sng">
              <a:solidFill>
                <a:srgbClr val="72B8DA"/>
              </a:solidFill>
              <a:prstDash val="solid"/>
            </a:ln>
          </a:left>
          <a:right>
            <a:ln w="9525" cmpd="sng">
              <a:solidFill>
                <a:srgbClr val="72B8DA"/>
              </a:solidFill>
              <a:prstDash val="solid"/>
            </a:ln>
          </a:right>
          <a:top>
            <a:ln w="9525" cmpd="sng">
              <a:solidFill>
                <a:srgbClr val="72B8DA"/>
              </a:solidFill>
              <a:prstDash val="solid"/>
            </a:ln>
          </a:top>
          <a:bottom>
            <a:ln w="9525" cmpd="sng">
              <a:solidFill>
                <a:srgbClr val="72B8DA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72B8DA"/>
          </a:solidFill>
        </a:fill>
      </a:tcStyle>
    </a:swCell>
  </a:tblStyle>
  <a:tblStyle styleId="{431C1316-3D13-47B2-8BB8-DB9387CCB30D}" styleName="表样式 1 25">
    <a:wholeTbl>
      <a:tcTxStyle>
        <a:fontRef idx="none">
          <a:schemeClr val="tx1"/>
        </a:fontRef>
      </a:tcTxStyle>
      <a:tcStyle>
        <a:tcBdr>
          <a:left>
            <a:ln w="9525" cmpd="sng">
              <a:solidFill>
                <a:schemeClr val="accent2"/>
              </a:solidFill>
              <a:prstDash val="solid"/>
            </a:ln>
          </a:left>
          <a:right>
            <a:ln w="9525" cmpd="sng">
              <a:solidFill>
                <a:schemeClr val="accent2"/>
              </a:solidFill>
              <a:prstDash val="solid"/>
            </a:ln>
          </a:right>
          <a:top>
            <a:ln w="9525" cmpd="sng">
              <a:solidFill>
                <a:schemeClr val="accent2"/>
              </a:solidFill>
              <a:prstDash val="solid"/>
            </a:ln>
          </a:top>
          <a:bottom>
            <a:ln w="9525" cmpd="sng">
              <a:solidFill>
                <a:schemeClr val="accent2"/>
              </a:solidFill>
              <a:prstDash val="solid"/>
            </a:ln>
          </a:bottom>
          <a:insideH>
            <a:ln w="9525" cmpd="sng">
              <a:solidFill>
                <a:schemeClr val="accent2">
                  <a:lumMod val="34000"/>
                  <a:lumOff val="66000"/>
                </a:schemeClr>
              </a:solidFill>
              <a:prstDash val="solid"/>
            </a:ln>
          </a:insideH>
          <a:insideV>
            <a:ln w="9525" cmpd="sng">
              <a:solidFill>
                <a:schemeClr val="accent2">
                  <a:lumMod val="34000"/>
                  <a:lumOff val="66000"/>
                </a:schemeClr>
              </a:solidFill>
              <a:prstDash val="solid"/>
            </a:ln>
          </a:insideV>
        </a:tcBdr>
        <a:fill>
          <a:solidFill>
            <a:schemeClr val="bg1">
              <a:alpha val="0"/>
            </a:schemeClr>
          </a:solidFill>
        </a:fill>
      </a:tcStyle>
    </a:wholeTbl>
    <a:band2H>
      <a:tcTxStyle>
        <a:fontRef idx="none">
          <a:schemeClr val="tx1"/>
        </a:fontRef>
      </a:tcTxStyle>
      <a:tcStyle>
        <a:tcBdr/>
        <a:fill>
          <a:solidFill>
            <a:schemeClr val="accent2">
              <a:alpha val="25000"/>
              <a:lumMod val="40000"/>
              <a:lumOff val="60000"/>
            </a:schemeClr>
          </a:solidFill>
        </a:fill>
      </a:tcStyle>
    </a:band2H>
    <a:band1V>
      <a:tcStyle>
        <a:tcBdr>
          <a:left>
            <a:ln w="9525" cmpd="sng">
              <a:solidFill>
                <a:schemeClr val="accent2"/>
              </a:solidFill>
              <a:prstDash val="solid"/>
            </a:ln>
          </a:left>
          <a:right>
            <a:ln w="9525" cmpd="sng">
              <a:solidFill>
                <a:schemeClr val="accent2"/>
              </a:solidFill>
              <a:prstDash val="solid"/>
            </a:ln>
          </a:right>
          <a:top>
            <a:ln w="9525" cmpd="sng">
              <a:solidFill>
                <a:schemeClr val="accent2"/>
              </a:solidFill>
              <a:prstDash val="solid"/>
            </a:ln>
          </a:top>
          <a:bottom>
            <a:ln w="9525" cmpd="sng">
              <a:solidFill>
                <a:schemeClr val="accent2"/>
              </a:solidFill>
              <a:prstDash val="solid"/>
            </a:ln>
          </a:bottom>
          <a:insideH>
            <a:ln w="9525" cmpd="sng">
              <a:solidFill>
                <a:schemeClr val="accent2">
                  <a:lumMod val="40000"/>
                  <a:lumOff val="60000"/>
                </a:schemeClr>
              </a:solidFill>
              <a:prstDash val="solid"/>
            </a:ln>
          </a:insideH>
          <a:insideV>
            <a:ln w="9525" cmpd="sng">
              <a:solidFill>
                <a:schemeClr val="accent2">
                  <a:lumMod val="40000"/>
                  <a:lumOff val="60000"/>
                </a:schemeClr>
              </a:solidFill>
              <a:prstDash val="solid"/>
            </a:ln>
          </a:insideV>
        </a:tcBdr>
        <a:fill>
          <a:solidFill>
            <a:schemeClr val="accent2">
              <a:alpha val="25000"/>
              <a:lumMod val="40000"/>
              <a:lumOff val="60000"/>
            </a:schemeClr>
          </a:solidFill>
        </a:fill>
      </a:tcStyle>
    </a:band1V>
    <a:band2V>
      <a:tcStyle>
        <a:tcBdr>
          <a:left>
            <a:ln w="9525" cmpd="sng">
              <a:solidFill>
                <a:schemeClr val="accent2">
                  <a:lumMod val="40000"/>
                  <a:lumOff val="60000"/>
                </a:schemeClr>
              </a:solidFill>
              <a:prstDash val="solid"/>
            </a:ln>
          </a:left>
          <a:right>
            <a:ln w="9525" cmpd="sng">
              <a:solidFill>
                <a:schemeClr val="accent2">
                  <a:lumMod val="40000"/>
                  <a:lumOff val="60000"/>
                </a:schemeClr>
              </a:solidFill>
              <a:prstDash val="solid"/>
            </a:ln>
          </a:right>
          <a:top>
            <a:ln w="9525" cmpd="sng">
              <a:solidFill>
                <a:schemeClr val="accent2"/>
              </a:solidFill>
              <a:prstDash val="solid"/>
            </a:ln>
          </a:top>
          <a:bottom>
            <a:ln w="9525" cmpd="sng">
              <a:solidFill>
                <a:schemeClr val="accent2"/>
              </a:solidFill>
              <a:prstDash val="solid"/>
            </a:ln>
          </a:bottom>
          <a:insideH>
            <a:ln w="9525" cmpd="sng">
              <a:solidFill>
                <a:schemeClr val="accent2">
                  <a:lumMod val="40000"/>
                  <a:lumOff val="60000"/>
                </a:schemeClr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chemeClr val="bg1">
              <a:alpha val="0"/>
            </a:schemeClr>
          </a:solidFill>
        </a:fill>
      </a:tcStyle>
    </a:band2V>
    <a:lastCol>
      <a:tcTxStyle b="on">
        <a:fontRef idx="none">
          <a:schemeClr val="tx1"/>
        </a:fontRef>
      </a:tcTxStyle>
      <a:tcStyle>
        <a:tcBdr>
          <a:left>
            <a:ln w="9525" cmpd="sng">
              <a:solidFill>
                <a:schemeClr val="accent2">
                  <a:lumMod val="34000"/>
                  <a:lumOff val="66000"/>
                </a:schemeClr>
              </a:solidFill>
              <a:prstDash val="solid"/>
            </a:ln>
          </a:left>
          <a:right>
            <a:ln w="9525" cmpd="sng">
              <a:solidFill>
                <a:schemeClr val="accent2"/>
              </a:solidFill>
              <a:prstDash val="solid"/>
            </a:ln>
          </a:right>
          <a:top>
            <a:ln w="9525" cmpd="sng">
              <a:solidFill>
                <a:schemeClr val="accent2">
                  <a:lumMod val="34000"/>
                  <a:lumOff val="66000"/>
                </a:schemeClr>
              </a:solidFill>
              <a:prstDash val="solid"/>
            </a:ln>
          </a:top>
          <a:bottom>
            <a:ln w="9525" cmpd="sng">
              <a:solidFill>
                <a:schemeClr val="accent2"/>
              </a:solidFill>
              <a:prstDash val="solid"/>
            </a:ln>
          </a:bottom>
          <a:insideH>
            <a:ln w="9525" cmpd="sng">
              <a:solidFill>
                <a:schemeClr val="accent2">
                  <a:lumMod val="34000"/>
                  <a:lumOff val="66000"/>
                </a:schemeClr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chemeClr val="bg1">
              <a:alpha val="0"/>
            </a:schemeClr>
          </a:solidFill>
        </a:fill>
      </a:tcStyle>
    </a:lastCol>
    <a:firstCol>
      <a:tcTxStyle b="on">
        <a:fontRef idx="none">
          <a:schemeClr val="tx1"/>
        </a:fontRef>
      </a:tcTxStyle>
      <a:tcStyle>
        <a:tcBdr>
          <a:left>
            <a:ln w="9525" cmpd="sng">
              <a:solidFill>
                <a:schemeClr val="accent2"/>
              </a:solidFill>
              <a:prstDash val="solid"/>
            </a:ln>
          </a:left>
          <a:right>
            <a:ln w="9525" cmpd="sng">
              <a:solidFill>
                <a:schemeClr val="accent2">
                  <a:lumMod val="34000"/>
                  <a:lumOff val="66000"/>
                </a:schemeClr>
              </a:solidFill>
              <a:prstDash val="solid"/>
            </a:ln>
          </a:right>
          <a:top>
            <a:ln w="9525" cmpd="sng">
              <a:solidFill>
                <a:schemeClr val="accent2">
                  <a:lumMod val="34000"/>
                  <a:lumOff val="66000"/>
                </a:schemeClr>
              </a:solidFill>
              <a:prstDash val="solid"/>
            </a:ln>
          </a:top>
          <a:bottom>
            <a:ln w="9525" cmpd="sng">
              <a:solidFill>
                <a:schemeClr val="accent2"/>
              </a:solidFill>
              <a:prstDash val="solid"/>
            </a:ln>
          </a:bottom>
          <a:insideH>
            <a:ln w="9525" cmpd="sng">
              <a:solidFill>
                <a:schemeClr val="accent2">
                  <a:lumMod val="34000"/>
                  <a:lumOff val="66000"/>
                </a:schemeClr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chemeClr val="bg1">
              <a:alpha val="0"/>
            </a:schemeClr>
          </a:solidFill>
        </a:fill>
      </a:tcStyle>
    </a:firstCol>
    <a:lastRow>
      <a:tcTxStyle b="on">
        <a:fontRef idx="none">
          <a:schemeClr val="tx1"/>
        </a:fontRef>
      </a:tcTxStyle>
      <a:tcStyle>
        <a:tcBdr>
          <a:left>
            <a:ln w="9525" cmpd="sng">
              <a:solidFill>
                <a:schemeClr val="accent2"/>
              </a:solidFill>
              <a:prstDash val="solid"/>
            </a:ln>
          </a:left>
          <a:right>
            <a:ln w="9525" cmpd="sng">
              <a:solidFill>
                <a:schemeClr val="accent2"/>
              </a:solidFill>
              <a:prstDash val="solid"/>
            </a:ln>
          </a:right>
          <a:top>
            <a:ln w="9525" cmpd="sng">
              <a:solidFill>
                <a:schemeClr val="accent2"/>
              </a:solidFill>
              <a:prstDash val="solid"/>
            </a:ln>
          </a:top>
          <a:bottom>
            <a:ln w="9525" cmpd="sng">
              <a:solidFill>
                <a:schemeClr val="accent2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bg1">
              <a:alpha val="0"/>
            </a:schemeClr>
          </a:solidFill>
        </a:fill>
      </a:tcStyle>
    </a:lastRow>
    <a:seCell>
      <a:tcStyle>
        <a:tcBdr>
          <a:left>
            <a:ln>
              <a:noFill/>
            </a:ln>
          </a:left>
          <a:right>
            <a:ln w="9525" cmpd="sng">
              <a:solidFill>
                <a:schemeClr val="accent2"/>
              </a:solidFill>
              <a:prstDash val="solid"/>
            </a:ln>
          </a:right>
          <a:top>
            <a:ln w="9525" cmpd="sng">
              <a:solidFill>
                <a:schemeClr val="accent2"/>
              </a:solidFill>
              <a:prstDash val="solid"/>
            </a:ln>
          </a:top>
          <a:bottom>
            <a:ln w="9525" cmpd="sng">
              <a:solidFill>
                <a:schemeClr val="accent2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bg1">
              <a:alpha val="0"/>
            </a:schemeClr>
          </a:solidFill>
        </a:fill>
      </a:tcStyle>
    </a:seCell>
    <a:swCell>
      <a:tcTxStyle b="on">
        <a:fontRef idx="none">
          <a:schemeClr val="accent2"/>
        </a:fontRef>
      </a:tcTxStyle>
      <a:tcStyle>
        <a:tcBdr>
          <a:left>
            <a:ln w="9525" cmpd="sng">
              <a:solidFill>
                <a:schemeClr val="accent2"/>
              </a:solidFill>
              <a:prstDash val="solid"/>
            </a:ln>
          </a:left>
          <a:right>
            <a:ln>
              <a:noFill/>
            </a:ln>
          </a:right>
          <a:top>
            <a:ln w="9525" cmpd="sng">
              <a:solidFill>
                <a:schemeClr val="accent2"/>
              </a:solidFill>
              <a:prstDash val="solid"/>
            </a:ln>
          </a:top>
          <a:bottom>
            <a:ln w="9525" cmpd="sng">
              <a:solidFill>
                <a:schemeClr val="accent2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bg1">
              <a:alpha val="0"/>
            </a:schemeClr>
          </a:solidFill>
        </a:fill>
      </a:tcStyle>
    </a:swCell>
    <a:firstRow>
      <a:tcTxStyle b="on">
        <a:fontRef idx="none">
          <a:schemeClr val="tx1"/>
        </a:fontRef>
      </a:tcTxStyle>
      <a:tcStyle>
        <a:tcBdr>
          <a:left>
            <a:ln w="9525" cmpd="sng">
              <a:solidFill>
                <a:schemeClr val="accent2"/>
              </a:solidFill>
              <a:prstDash val="solid"/>
            </a:ln>
          </a:left>
          <a:right>
            <a:ln w="9525" cmpd="sng">
              <a:solidFill>
                <a:schemeClr val="accent2"/>
              </a:solidFill>
              <a:prstDash val="solid"/>
            </a:ln>
          </a:right>
          <a:top>
            <a:ln w="9525" cmpd="sng">
              <a:solidFill>
                <a:schemeClr val="accent2"/>
              </a:solidFill>
              <a:prstDash val="solid"/>
            </a:ln>
          </a:top>
          <a:bottom>
            <a:ln w="9525" cmpd="sng">
              <a:solidFill>
                <a:schemeClr val="accent2">
                  <a:lumMod val="34000"/>
                  <a:lumOff val="66000"/>
                </a:schemeClr>
              </a:solidFill>
              <a:prstDash val="solid"/>
            </a:ln>
          </a:bottom>
          <a:insideH>
            <a:ln>
              <a:noFill/>
            </a:ln>
          </a:insideH>
          <a:insideV>
            <a:ln w="9525" cmpd="sng">
              <a:solidFill>
                <a:schemeClr val="accent2">
                  <a:alpha val="20000"/>
                  <a:lumMod val="35000"/>
                  <a:lumOff val="65000"/>
                </a:schemeClr>
              </a:solidFill>
              <a:prstDash val="solid"/>
            </a:ln>
          </a:insideV>
        </a:tcBdr>
        <a:fill>
          <a:solidFill>
            <a:schemeClr val="accent2">
              <a:alpha val="50000"/>
              <a:lumMod val="40000"/>
              <a:lumOff val="60000"/>
            </a:schemeClr>
          </a:solidFill>
        </a:fill>
      </a:tcStyle>
    </a:firstRow>
  </a:tblStyle>
  <a:tblStyle styleId="{0503B946-CA36-49A4-B27B-869D69C26D61}" styleName="表样式 1 25">
    <a:wholeTbl>
      <a:tcTxStyle>
        <a:fontRef idx="none">
          <a:schemeClr val="tx1"/>
        </a:fontRef>
      </a:tcTxStyle>
      <a:tcStyle>
        <a:tcBdr>
          <a:left>
            <a:ln w="9525" cmpd="sng">
              <a:solidFill>
                <a:schemeClr val="accent2"/>
              </a:solidFill>
              <a:prstDash val="solid"/>
            </a:ln>
          </a:left>
          <a:right>
            <a:ln w="9525" cmpd="sng">
              <a:solidFill>
                <a:schemeClr val="accent2"/>
              </a:solidFill>
              <a:prstDash val="solid"/>
            </a:ln>
          </a:right>
          <a:top>
            <a:ln w="9525" cmpd="sng">
              <a:solidFill>
                <a:schemeClr val="accent2"/>
              </a:solidFill>
              <a:prstDash val="solid"/>
            </a:ln>
          </a:top>
          <a:bottom>
            <a:ln w="9525" cmpd="sng">
              <a:solidFill>
                <a:schemeClr val="accent2"/>
              </a:solidFill>
              <a:prstDash val="solid"/>
            </a:ln>
          </a:bottom>
          <a:insideH>
            <a:ln w="9525" cmpd="sng">
              <a:solidFill>
                <a:schemeClr val="accent2">
                  <a:lumMod val="34000"/>
                  <a:lumOff val="66000"/>
                </a:schemeClr>
              </a:solidFill>
              <a:prstDash val="solid"/>
            </a:ln>
          </a:insideH>
          <a:insideV>
            <a:ln w="9525" cmpd="sng">
              <a:solidFill>
                <a:schemeClr val="accent2">
                  <a:lumMod val="34000"/>
                  <a:lumOff val="66000"/>
                </a:schemeClr>
              </a:solidFill>
              <a:prstDash val="solid"/>
            </a:ln>
          </a:insideV>
        </a:tcBdr>
        <a:fill>
          <a:solidFill>
            <a:schemeClr val="bg1">
              <a:alpha val="0"/>
            </a:schemeClr>
          </a:solidFill>
        </a:fill>
      </a:tcStyle>
    </a:wholeTbl>
    <a:band2H>
      <a:tcTxStyle>
        <a:fontRef idx="none">
          <a:schemeClr val="tx1"/>
        </a:fontRef>
      </a:tcTxStyle>
      <a:tcStyle>
        <a:tcBdr/>
        <a:fill>
          <a:solidFill>
            <a:schemeClr val="accent2">
              <a:alpha val="25000"/>
              <a:lumMod val="40000"/>
              <a:lumOff val="60000"/>
            </a:schemeClr>
          </a:solidFill>
        </a:fill>
      </a:tcStyle>
    </a:band2H>
    <a:band1V>
      <a:tcStyle>
        <a:tcBdr>
          <a:left>
            <a:ln w="9525" cmpd="sng">
              <a:solidFill>
                <a:schemeClr val="accent2"/>
              </a:solidFill>
              <a:prstDash val="solid"/>
            </a:ln>
          </a:left>
          <a:right>
            <a:ln w="9525" cmpd="sng">
              <a:solidFill>
                <a:schemeClr val="accent2"/>
              </a:solidFill>
              <a:prstDash val="solid"/>
            </a:ln>
          </a:right>
          <a:top>
            <a:ln w="9525" cmpd="sng">
              <a:solidFill>
                <a:schemeClr val="accent2"/>
              </a:solidFill>
              <a:prstDash val="solid"/>
            </a:ln>
          </a:top>
          <a:bottom>
            <a:ln w="9525" cmpd="sng">
              <a:solidFill>
                <a:schemeClr val="accent2"/>
              </a:solidFill>
              <a:prstDash val="solid"/>
            </a:ln>
          </a:bottom>
          <a:insideH>
            <a:ln w="9525" cmpd="sng">
              <a:solidFill>
                <a:schemeClr val="accent2">
                  <a:lumMod val="40000"/>
                  <a:lumOff val="60000"/>
                </a:schemeClr>
              </a:solidFill>
              <a:prstDash val="solid"/>
            </a:ln>
          </a:insideH>
          <a:insideV>
            <a:ln w="9525" cmpd="sng">
              <a:solidFill>
                <a:schemeClr val="accent2">
                  <a:lumMod val="40000"/>
                  <a:lumOff val="60000"/>
                </a:schemeClr>
              </a:solidFill>
              <a:prstDash val="solid"/>
            </a:ln>
          </a:insideV>
        </a:tcBdr>
        <a:fill>
          <a:solidFill>
            <a:schemeClr val="accent2">
              <a:alpha val="25000"/>
              <a:lumMod val="40000"/>
              <a:lumOff val="60000"/>
            </a:schemeClr>
          </a:solidFill>
        </a:fill>
      </a:tcStyle>
    </a:band1V>
    <a:band2V>
      <a:tcStyle>
        <a:tcBdr>
          <a:left>
            <a:ln w="9525" cmpd="sng">
              <a:solidFill>
                <a:schemeClr val="accent2">
                  <a:lumMod val="40000"/>
                  <a:lumOff val="60000"/>
                </a:schemeClr>
              </a:solidFill>
              <a:prstDash val="solid"/>
            </a:ln>
          </a:left>
          <a:right>
            <a:ln w="9525" cmpd="sng">
              <a:solidFill>
                <a:schemeClr val="accent2">
                  <a:lumMod val="40000"/>
                  <a:lumOff val="60000"/>
                </a:schemeClr>
              </a:solidFill>
              <a:prstDash val="solid"/>
            </a:ln>
          </a:right>
          <a:top>
            <a:ln w="9525" cmpd="sng">
              <a:solidFill>
                <a:schemeClr val="accent2"/>
              </a:solidFill>
              <a:prstDash val="solid"/>
            </a:ln>
          </a:top>
          <a:bottom>
            <a:ln w="9525" cmpd="sng">
              <a:solidFill>
                <a:schemeClr val="accent2"/>
              </a:solidFill>
              <a:prstDash val="solid"/>
            </a:ln>
          </a:bottom>
          <a:insideH>
            <a:ln w="9525" cmpd="sng">
              <a:solidFill>
                <a:schemeClr val="accent2">
                  <a:lumMod val="40000"/>
                  <a:lumOff val="60000"/>
                </a:schemeClr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chemeClr val="bg1">
              <a:alpha val="0"/>
            </a:schemeClr>
          </a:solidFill>
        </a:fill>
      </a:tcStyle>
    </a:band2V>
    <a:lastCol>
      <a:tcTxStyle b="on">
        <a:fontRef idx="none">
          <a:schemeClr val="tx1"/>
        </a:fontRef>
      </a:tcTxStyle>
      <a:tcStyle>
        <a:tcBdr>
          <a:left>
            <a:ln w="9525" cmpd="sng">
              <a:solidFill>
                <a:schemeClr val="accent2">
                  <a:lumMod val="34000"/>
                  <a:lumOff val="66000"/>
                </a:schemeClr>
              </a:solidFill>
              <a:prstDash val="solid"/>
            </a:ln>
          </a:left>
          <a:right>
            <a:ln w="9525" cmpd="sng">
              <a:solidFill>
                <a:schemeClr val="accent2"/>
              </a:solidFill>
              <a:prstDash val="solid"/>
            </a:ln>
          </a:right>
          <a:top>
            <a:ln w="9525" cmpd="sng">
              <a:solidFill>
                <a:schemeClr val="accent2">
                  <a:lumMod val="34000"/>
                  <a:lumOff val="66000"/>
                </a:schemeClr>
              </a:solidFill>
              <a:prstDash val="solid"/>
            </a:ln>
          </a:top>
          <a:bottom>
            <a:ln w="9525" cmpd="sng">
              <a:solidFill>
                <a:schemeClr val="accent2"/>
              </a:solidFill>
              <a:prstDash val="solid"/>
            </a:ln>
          </a:bottom>
          <a:insideH>
            <a:ln w="9525" cmpd="sng">
              <a:solidFill>
                <a:schemeClr val="accent2">
                  <a:lumMod val="34000"/>
                  <a:lumOff val="66000"/>
                </a:schemeClr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chemeClr val="bg1">
              <a:alpha val="0"/>
            </a:schemeClr>
          </a:solidFill>
        </a:fill>
      </a:tcStyle>
    </a:lastCol>
    <a:firstCol>
      <a:tcTxStyle b="on">
        <a:fontRef idx="none">
          <a:schemeClr val="tx1"/>
        </a:fontRef>
      </a:tcTxStyle>
      <a:tcStyle>
        <a:tcBdr>
          <a:left>
            <a:ln w="9525" cmpd="sng">
              <a:solidFill>
                <a:schemeClr val="accent2"/>
              </a:solidFill>
              <a:prstDash val="solid"/>
            </a:ln>
          </a:left>
          <a:right>
            <a:ln w="9525" cmpd="sng">
              <a:solidFill>
                <a:schemeClr val="accent2">
                  <a:lumMod val="34000"/>
                  <a:lumOff val="66000"/>
                </a:schemeClr>
              </a:solidFill>
              <a:prstDash val="solid"/>
            </a:ln>
          </a:right>
          <a:top>
            <a:ln w="9525" cmpd="sng">
              <a:solidFill>
                <a:schemeClr val="accent2">
                  <a:lumMod val="34000"/>
                  <a:lumOff val="66000"/>
                </a:schemeClr>
              </a:solidFill>
              <a:prstDash val="solid"/>
            </a:ln>
          </a:top>
          <a:bottom>
            <a:ln w="9525" cmpd="sng">
              <a:solidFill>
                <a:schemeClr val="accent2"/>
              </a:solidFill>
              <a:prstDash val="solid"/>
            </a:ln>
          </a:bottom>
          <a:insideH>
            <a:ln w="9525" cmpd="sng">
              <a:solidFill>
                <a:schemeClr val="accent2">
                  <a:lumMod val="34000"/>
                  <a:lumOff val="66000"/>
                </a:schemeClr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chemeClr val="bg1">
              <a:alpha val="0"/>
            </a:schemeClr>
          </a:solidFill>
        </a:fill>
      </a:tcStyle>
    </a:firstCol>
    <a:lastRow>
      <a:tcTxStyle b="on">
        <a:fontRef idx="none">
          <a:schemeClr val="tx1"/>
        </a:fontRef>
      </a:tcTxStyle>
      <a:tcStyle>
        <a:tcBdr>
          <a:left>
            <a:ln w="9525" cmpd="sng">
              <a:solidFill>
                <a:schemeClr val="accent2"/>
              </a:solidFill>
              <a:prstDash val="solid"/>
            </a:ln>
          </a:left>
          <a:right>
            <a:ln w="9525" cmpd="sng">
              <a:solidFill>
                <a:schemeClr val="accent2"/>
              </a:solidFill>
              <a:prstDash val="solid"/>
            </a:ln>
          </a:right>
          <a:top>
            <a:ln w="9525" cmpd="sng">
              <a:solidFill>
                <a:schemeClr val="accent2"/>
              </a:solidFill>
              <a:prstDash val="solid"/>
            </a:ln>
          </a:top>
          <a:bottom>
            <a:ln w="9525" cmpd="sng">
              <a:solidFill>
                <a:schemeClr val="accent2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bg1">
              <a:alpha val="0"/>
            </a:schemeClr>
          </a:solidFill>
        </a:fill>
      </a:tcStyle>
    </a:lastRow>
    <a:seCell>
      <a:tcStyle>
        <a:tcBdr>
          <a:left>
            <a:ln>
              <a:noFill/>
            </a:ln>
          </a:left>
          <a:right>
            <a:ln w="9525" cmpd="sng">
              <a:solidFill>
                <a:schemeClr val="accent2"/>
              </a:solidFill>
              <a:prstDash val="solid"/>
            </a:ln>
          </a:right>
          <a:top>
            <a:ln w="9525" cmpd="sng">
              <a:solidFill>
                <a:schemeClr val="accent2"/>
              </a:solidFill>
              <a:prstDash val="solid"/>
            </a:ln>
          </a:top>
          <a:bottom>
            <a:ln w="9525" cmpd="sng">
              <a:solidFill>
                <a:schemeClr val="accent2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bg1">
              <a:alpha val="0"/>
            </a:schemeClr>
          </a:solidFill>
        </a:fill>
      </a:tcStyle>
    </a:seCell>
    <a:swCell>
      <a:tcTxStyle b="on">
        <a:fontRef idx="none">
          <a:schemeClr val="accent2"/>
        </a:fontRef>
      </a:tcTxStyle>
      <a:tcStyle>
        <a:tcBdr>
          <a:left>
            <a:ln w="9525" cmpd="sng">
              <a:solidFill>
                <a:schemeClr val="accent2"/>
              </a:solidFill>
              <a:prstDash val="solid"/>
            </a:ln>
          </a:left>
          <a:right>
            <a:ln>
              <a:noFill/>
            </a:ln>
          </a:right>
          <a:top>
            <a:ln w="9525" cmpd="sng">
              <a:solidFill>
                <a:schemeClr val="accent2"/>
              </a:solidFill>
              <a:prstDash val="solid"/>
            </a:ln>
          </a:top>
          <a:bottom>
            <a:ln w="9525" cmpd="sng">
              <a:solidFill>
                <a:schemeClr val="accent2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bg1">
              <a:alpha val="0"/>
            </a:schemeClr>
          </a:solidFill>
        </a:fill>
      </a:tcStyle>
    </a:swCell>
    <a:firstRow>
      <a:tcTxStyle b="on">
        <a:fontRef idx="none">
          <a:schemeClr val="tx1"/>
        </a:fontRef>
      </a:tcTxStyle>
      <a:tcStyle>
        <a:tcBdr>
          <a:left>
            <a:ln w="9525" cmpd="sng">
              <a:solidFill>
                <a:schemeClr val="accent2"/>
              </a:solidFill>
              <a:prstDash val="solid"/>
            </a:ln>
          </a:left>
          <a:right>
            <a:ln w="9525" cmpd="sng">
              <a:solidFill>
                <a:schemeClr val="accent2"/>
              </a:solidFill>
              <a:prstDash val="solid"/>
            </a:ln>
          </a:right>
          <a:top>
            <a:ln w="9525" cmpd="sng">
              <a:solidFill>
                <a:schemeClr val="accent2"/>
              </a:solidFill>
              <a:prstDash val="solid"/>
            </a:ln>
          </a:top>
          <a:bottom>
            <a:ln w="9525" cmpd="sng">
              <a:solidFill>
                <a:schemeClr val="accent2">
                  <a:lumMod val="34000"/>
                  <a:lumOff val="66000"/>
                </a:schemeClr>
              </a:solidFill>
              <a:prstDash val="solid"/>
            </a:ln>
          </a:bottom>
          <a:insideH>
            <a:ln>
              <a:noFill/>
            </a:ln>
          </a:insideH>
          <a:insideV>
            <a:ln w="9525" cmpd="sng">
              <a:solidFill>
                <a:schemeClr val="accent2">
                  <a:alpha val="20000"/>
                  <a:lumMod val="35000"/>
                  <a:lumOff val="65000"/>
                </a:schemeClr>
              </a:solidFill>
              <a:prstDash val="solid"/>
            </a:ln>
          </a:insideV>
        </a:tcBdr>
        <a:fill>
          <a:solidFill>
            <a:schemeClr val="accent2">
              <a:alpha val="50000"/>
              <a:lumMod val="40000"/>
              <a:lumOff val="6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1"/>
    <p:restoredTop sz="94933" autoAdjust="0"/>
  </p:normalViewPr>
  <p:slideViewPr>
    <p:cSldViewPr snapToGrid="0" showGuides="1">
      <p:cViewPr>
        <p:scale>
          <a:sx n="120" d="100"/>
          <a:sy n="120" d="100"/>
        </p:scale>
        <p:origin x="144" y="360"/>
      </p:cViewPr>
      <p:guideLst>
        <p:guide orient="horz" pos="2362"/>
        <p:guide pos="383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gs" Target="tags/tag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  <a:t>2026/4/6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465E4-B37B-4A4B-A30F-C966582A971F}" type="datetimeFigureOut">
              <a:rPr lang="zh-CN" altLang="en-US" smtClean="0"/>
              <a:t>2026/4/6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27E678-0A2B-4C25-8F13-84C7D22E404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465E4-B37B-4A4B-A30F-C966582A971F}" type="datetimeFigureOut">
              <a:rPr lang="zh-CN" altLang="en-US" smtClean="0"/>
              <a:t>2026/4/6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27E678-0A2B-4C25-8F13-84C7D22E404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465E4-B37B-4A4B-A30F-C966582A971F}" type="datetimeFigureOut">
              <a:rPr lang="zh-CN" altLang="en-US" smtClean="0"/>
              <a:t>2026/4/6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27E678-0A2B-4C25-8F13-84C7D22E404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465E4-B37B-4A4B-A30F-C966582A971F}" type="datetimeFigureOut">
              <a:rPr lang="zh-CN" altLang="en-US" smtClean="0"/>
              <a:t>2026/4/6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27E678-0A2B-4C25-8F13-84C7D22E404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465E4-B37B-4A4B-A30F-C966582A971F}" type="datetimeFigureOut">
              <a:rPr lang="zh-CN" altLang="en-US" smtClean="0"/>
              <a:t>2026/4/6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27E678-0A2B-4C25-8F13-84C7D22E404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465E4-B37B-4A4B-A30F-C966582A971F}" type="datetimeFigureOut">
              <a:rPr lang="zh-CN" altLang="en-US" smtClean="0"/>
              <a:t>2026/4/6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27E678-0A2B-4C25-8F13-84C7D22E404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465E4-B37B-4A4B-A30F-C966582A971F}" type="datetimeFigureOut">
              <a:rPr lang="zh-CN" altLang="en-US" smtClean="0"/>
              <a:t>2026/4/6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27E678-0A2B-4C25-8F13-84C7D22E404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465E4-B37B-4A4B-A30F-C966582A971F}" type="datetimeFigureOut">
              <a:rPr lang="zh-CN" altLang="en-US" smtClean="0"/>
              <a:t>2026/4/6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27E678-0A2B-4C25-8F13-84C7D22E404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465E4-B37B-4A4B-A30F-C966582A971F}" type="datetimeFigureOut">
              <a:rPr lang="zh-CN" altLang="en-US" smtClean="0"/>
              <a:t>2026/4/6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27E678-0A2B-4C25-8F13-84C7D22E404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465E4-B37B-4A4B-A30F-C966582A971F}" type="datetimeFigureOut">
              <a:rPr lang="zh-CN" altLang="en-US" smtClean="0"/>
              <a:t>2026/4/6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27E678-0A2B-4C25-8F13-84C7D22E404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465E4-B37B-4A4B-A30F-C966582A971F}" type="datetimeFigureOut">
              <a:rPr lang="zh-CN" altLang="en-US" smtClean="0"/>
              <a:t>2026/4/6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27E678-0A2B-4C25-8F13-84C7D22E404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1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5465E4-B37B-4A4B-A30F-C966582A971F}" type="datetimeFigureOut">
              <a:rPr lang="zh-CN" altLang="en-US" smtClean="0"/>
              <a:t>2026/4/6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27E678-0A2B-4C25-8F13-84C7D22E404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audio" Target="../media/audio1.wav"/><Relationship Id="rId7" Type="http://schemas.openxmlformats.org/officeDocument/2006/relationships/image" Target="../media/image6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audio" Target="../media/audio1.wav"/><Relationship Id="rId7" Type="http://schemas.openxmlformats.org/officeDocument/2006/relationships/image" Target="../media/image8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.xml"/><Relationship Id="rId6" Type="http://schemas.openxmlformats.org/officeDocument/2006/relationships/image" Target="../media/image7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audio" Target="../media/audio1.wav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4.xml"/><Relationship Id="rId6" Type="http://schemas.openxmlformats.org/officeDocument/2006/relationships/image" Target="../media/image9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tags" Target="../tags/tag6.xml"/><Relationship Id="rId1" Type="http://schemas.openxmlformats.org/officeDocument/2006/relationships/tags" Target="../tags/tag5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jpeg"/><Relationship Id="rId5" Type="http://schemas.openxmlformats.org/officeDocument/2006/relationships/image" Target="../media/image12.jpe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tags" Target="../tags/tag9.xml"/><Relationship Id="rId7" Type="http://schemas.openxmlformats.org/officeDocument/2006/relationships/image" Target="../media/image4.png"/><Relationship Id="rId2" Type="http://schemas.openxmlformats.org/officeDocument/2006/relationships/tags" Target="../tags/tag8.xml"/><Relationship Id="rId1" Type="http://schemas.openxmlformats.org/officeDocument/2006/relationships/tags" Target="../tags/tag7.xml"/><Relationship Id="rId6" Type="http://schemas.openxmlformats.org/officeDocument/2006/relationships/image" Target="../media/image3.png"/><Relationship Id="rId5" Type="http://schemas.openxmlformats.org/officeDocument/2006/relationships/slideLayout" Target="../slideLayouts/slideLayout7.xml"/><Relationship Id="rId10" Type="http://schemas.openxmlformats.org/officeDocument/2006/relationships/image" Target="../media/image11.png"/><Relationship Id="rId4" Type="http://schemas.openxmlformats.org/officeDocument/2006/relationships/tags" Target="../tags/tag10.xml"/><Relationship Id="rId9" Type="http://schemas.microsoft.com/office/2007/relationships/hdphoto" Target="../media/hdphoto1.wdp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5.png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6.png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png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72BBDC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矩形: 圆角 11"/>
          <p:cNvSpPr/>
          <p:nvPr/>
        </p:nvSpPr>
        <p:spPr>
          <a:xfrm>
            <a:off x="1085848" y="1104900"/>
            <a:ext cx="10020300" cy="4648200"/>
          </a:xfrm>
          <a:prstGeom prst="roundRect">
            <a:avLst/>
          </a:prstGeom>
          <a:solidFill>
            <a:schemeClr val="bg1"/>
          </a:solidFill>
          <a:ln>
            <a:solidFill>
              <a:srgbClr val="72BBDC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3" name="图片 2" descr="图片包含 游戏机, 钟表, 仪表&#10;&#10;描述已自动生成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48045" y="2466975"/>
            <a:ext cx="12043955" cy="4391025"/>
          </a:xfrm>
          <a:custGeom>
            <a:avLst/>
            <a:gdLst>
              <a:gd name="connsiteX0" fmla="*/ 2052230 w 12043955"/>
              <a:gd name="connsiteY0" fmla="*/ 128587 h 4391025"/>
              <a:gd name="connsiteX1" fmla="*/ 2052230 w 12043955"/>
              <a:gd name="connsiteY1" fmla="*/ 2081212 h 4391025"/>
              <a:gd name="connsiteX2" fmla="*/ 4433480 w 12043955"/>
              <a:gd name="connsiteY2" fmla="*/ 2081212 h 4391025"/>
              <a:gd name="connsiteX3" fmla="*/ 4433480 w 12043955"/>
              <a:gd name="connsiteY3" fmla="*/ 128587 h 4391025"/>
              <a:gd name="connsiteX4" fmla="*/ 0 w 12043955"/>
              <a:gd name="connsiteY4" fmla="*/ 0 h 4391025"/>
              <a:gd name="connsiteX5" fmla="*/ 12043955 w 12043955"/>
              <a:gd name="connsiteY5" fmla="*/ 0 h 4391025"/>
              <a:gd name="connsiteX6" fmla="*/ 12043955 w 12043955"/>
              <a:gd name="connsiteY6" fmla="*/ 4391025 h 4391025"/>
              <a:gd name="connsiteX7" fmla="*/ 0 w 12043955"/>
              <a:gd name="connsiteY7" fmla="*/ 4391025 h 4391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043955" h="4391025">
                <a:moveTo>
                  <a:pt x="2052230" y="128587"/>
                </a:moveTo>
                <a:lnTo>
                  <a:pt x="2052230" y="2081212"/>
                </a:lnTo>
                <a:lnTo>
                  <a:pt x="4433480" y="2081212"/>
                </a:lnTo>
                <a:lnTo>
                  <a:pt x="4433480" y="128587"/>
                </a:lnTo>
                <a:close/>
                <a:moveTo>
                  <a:pt x="0" y="0"/>
                </a:moveTo>
                <a:lnTo>
                  <a:pt x="12043955" y="0"/>
                </a:lnTo>
                <a:lnTo>
                  <a:pt x="12043955" y="4391025"/>
                </a:lnTo>
                <a:lnTo>
                  <a:pt x="0" y="4391025"/>
                </a:lnTo>
                <a:close/>
              </a:path>
            </a:pathLst>
          </a:custGeom>
        </p:spPr>
      </p:pic>
      <p:pic>
        <p:nvPicPr>
          <p:cNvPr id="10" name="图片 9" descr="图片包含 游戏机, 钟表, 仪表&#10;&#10;描述已自动生成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751" r="62477" b="55965"/>
          <a:stretch>
            <a:fillRect/>
          </a:stretch>
        </p:blipFill>
        <p:spPr>
          <a:xfrm>
            <a:off x="1438275" y="200025"/>
            <a:ext cx="2381250" cy="1933575"/>
          </a:xfrm>
          <a:custGeom>
            <a:avLst/>
            <a:gdLst>
              <a:gd name="connsiteX0" fmla="*/ 0 w 2381250"/>
              <a:gd name="connsiteY0" fmla="*/ 0 h 1933575"/>
              <a:gd name="connsiteX1" fmla="*/ 2381250 w 2381250"/>
              <a:gd name="connsiteY1" fmla="*/ 0 h 1933575"/>
              <a:gd name="connsiteX2" fmla="*/ 2381250 w 2381250"/>
              <a:gd name="connsiteY2" fmla="*/ 1933575 h 1933575"/>
              <a:gd name="connsiteX3" fmla="*/ 0 w 2381250"/>
              <a:gd name="connsiteY3" fmla="*/ 1933575 h 19335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81250" h="1933575">
                <a:moveTo>
                  <a:pt x="0" y="0"/>
                </a:moveTo>
                <a:lnTo>
                  <a:pt x="2381250" y="0"/>
                </a:lnTo>
                <a:lnTo>
                  <a:pt x="2381250" y="1933575"/>
                </a:lnTo>
                <a:lnTo>
                  <a:pt x="0" y="1933575"/>
                </a:lnTo>
                <a:close/>
              </a:path>
            </a:pathLst>
          </a:custGeom>
        </p:spPr>
      </p:pic>
      <p:sp>
        <p:nvSpPr>
          <p:cNvPr id="13" name="矩形 12"/>
          <p:cNvSpPr/>
          <p:nvPr/>
        </p:nvSpPr>
        <p:spPr>
          <a:xfrm>
            <a:off x="3963670" y="2723515"/>
            <a:ext cx="4354195" cy="11068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dist"/>
            <a:r>
              <a:rPr lang="zh-CN" altLang="zh-CN" sz="6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楷体" panose="02010609060101010101" pitchFamily="49" charset="-122"/>
                <a:ea typeface="楷体" panose="02010609060101010101" pitchFamily="49" charset="-122"/>
                <a:cs typeface="+mn-ea"/>
                <a:sym typeface="+mn-lt"/>
              </a:rPr>
              <a:t>平均数</a:t>
            </a:r>
          </a:p>
        </p:txBody>
      </p:sp>
      <p:sp>
        <p:nvSpPr>
          <p:cNvPr id="14" name="矩形 13"/>
          <p:cNvSpPr/>
          <p:nvPr/>
        </p:nvSpPr>
        <p:spPr>
          <a:xfrm>
            <a:off x="4346971" y="1698777"/>
            <a:ext cx="3498055" cy="5835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dist"/>
            <a:r>
              <a:rPr lang="zh-CN" altLang="en-US" sz="3200" dirty="0">
                <a:solidFill>
                  <a:srgbClr val="3197C5"/>
                </a:solidFill>
                <a:latin typeface="南宋书局体" panose="02000000000000000000" pitchFamily="2" charset="-122"/>
                <a:ea typeface="南宋书局体" panose="02000000000000000000" pitchFamily="2" charset="-122"/>
                <a:cs typeface="+mn-ea"/>
                <a:sym typeface="+mn-lt"/>
              </a:rPr>
              <a:t>四年级数学下册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2" name="表格 31">
            <a:extLst>
              <a:ext uri="{FF2B5EF4-FFF2-40B4-BE49-F238E27FC236}">
                <a16:creationId xmlns:a16="http://schemas.microsoft.com/office/drawing/2014/main" id="{9910E477-34A5-5571-E5A8-D45D7AEED3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6601647"/>
              </p:ext>
            </p:extLst>
          </p:nvPr>
        </p:nvGraphicFramePr>
        <p:xfrm>
          <a:off x="3212253" y="3026410"/>
          <a:ext cx="3429000" cy="3175000"/>
        </p:xfrm>
        <a:graphic>
          <a:graphicData uri="http://schemas.openxmlformats.org/drawingml/2006/table">
            <a:tbl>
              <a:tblPr/>
              <a:tblGrid>
                <a:gridCol w="381000">
                  <a:extLst>
                    <a:ext uri="{9D8B030D-6E8A-4147-A177-3AD203B41FA5}">
                      <a16:colId xmlns:a16="http://schemas.microsoft.com/office/drawing/2014/main" val="1535966343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849342720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758479419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827114537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3907985718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3261904702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55487142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1082148790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78676329"/>
                    </a:ext>
                  </a:extLst>
                </a:gridCol>
              </a:tblGrid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64678811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0154444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2823809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4223528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47816363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04412035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82785375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26526047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3837222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0222064"/>
                  </a:ext>
                </a:extLst>
              </a:tr>
            </a:tbl>
          </a:graphicData>
        </a:graphic>
      </p:graphicFrame>
      <p:pic>
        <p:nvPicPr>
          <p:cNvPr id="15" name="图片 14" descr="图片包含 游戏机, 钟表, 仪表&#10;&#10;描述已自动生成"/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304" t="40998"/>
          <a:stretch>
            <a:fillRect/>
          </a:stretch>
        </p:blipFill>
        <p:spPr>
          <a:xfrm>
            <a:off x="10487025" y="5543346"/>
            <a:ext cx="2242643" cy="1314653"/>
          </a:xfrm>
          <a:custGeom>
            <a:avLst/>
            <a:gdLst>
              <a:gd name="connsiteX0" fmla="*/ 0 w 4419600"/>
              <a:gd name="connsiteY0" fmla="*/ 0 h 2590800"/>
              <a:gd name="connsiteX1" fmla="*/ 4419600 w 4419600"/>
              <a:gd name="connsiteY1" fmla="*/ 0 h 2590800"/>
              <a:gd name="connsiteX2" fmla="*/ 4419600 w 4419600"/>
              <a:gd name="connsiteY2" fmla="*/ 2590800 h 2590800"/>
              <a:gd name="connsiteX3" fmla="*/ 0 w 4419600"/>
              <a:gd name="connsiteY3" fmla="*/ 2590800 h 2590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19600" h="2590800">
                <a:moveTo>
                  <a:pt x="0" y="0"/>
                </a:moveTo>
                <a:lnTo>
                  <a:pt x="4419600" y="0"/>
                </a:lnTo>
                <a:lnTo>
                  <a:pt x="4419600" y="2590800"/>
                </a:lnTo>
                <a:lnTo>
                  <a:pt x="0" y="2590800"/>
                </a:lnTo>
                <a:close/>
              </a:path>
            </a:pathLst>
          </a:custGeom>
        </p:spPr>
      </p:pic>
      <p:pic>
        <p:nvPicPr>
          <p:cNvPr id="10" name="图片 9" descr="图片包含 游戏机, 钟表, 仪表&#10;&#10;描述已自动生成"/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751" r="62477" b="55965"/>
          <a:stretch>
            <a:fillRect/>
          </a:stretch>
        </p:blipFill>
        <p:spPr>
          <a:xfrm>
            <a:off x="-152400" y="-171450"/>
            <a:ext cx="1829926" cy="1485900"/>
          </a:xfrm>
          <a:custGeom>
            <a:avLst/>
            <a:gdLst>
              <a:gd name="connsiteX0" fmla="*/ 0 w 2381250"/>
              <a:gd name="connsiteY0" fmla="*/ 0 h 1933575"/>
              <a:gd name="connsiteX1" fmla="*/ 2381250 w 2381250"/>
              <a:gd name="connsiteY1" fmla="*/ 0 h 1933575"/>
              <a:gd name="connsiteX2" fmla="*/ 2381250 w 2381250"/>
              <a:gd name="connsiteY2" fmla="*/ 1933575 h 1933575"/>
              <a:gd name="connsiteX3" fmla="*/ 0 w 2381250"/>
              <a:gd name="connsiteY3" fmla="*/ 1933575 h 19335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81250" h="1933575">
                <a:moveTo>
                  <a:pt x="0" y="0"/>
                </a:moveTo>
                <a:lnTo>
                  <a:pt x="2381250" y="0"/>
                </a:lnTo>
                <a:lnTo>
                  <a:pt x="2381250" y="1933575"/>
                </a:lnTo>
                <a:lnTo>
                  <a:pt x="0" y="1933575"/>
                </a:lnTo>
                <a:close/>
              </a:path>
            </a:pathLst>
          </a:custGeom>
        </p:spPr>
      </p:pic>
      <p:pic>
        <p:nvPicPr>
          <p:cNvPr id="14" name="图片 13" descr="图片包含 游戏机, 钟表, 仪表&#10;&#10;描述已自动生成"/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641"/>
          <a:stretch>
            <a:fillRect/>
          </a:stretch>
        </p:blipFill>
        <p:spPr>
          <a:xfrm>
            <a:off x="-228600" y="4629857"/>
            <a:ext cx="2099855" cy="2228143"/>
          </a:xfrm>
          <a:custGeom>
            <a:avLst/>
            <a:gdLst>
              <a:gd name="connsiteX0" fmla="*/ 0 w 4138206"/>
              <a:gd name="connsiteY0" fmla="*/ 0 h 4391025"/>
              <a:gd name="connsiteX1" fmla="*/ 4138206 w 4138206"/>
              <a:gd name="connsiteY1" fmla="*/ 0 h 4391025"/>
              <a:gd name="connsiteX2" fmla="*/ 4138206 w 4138206"/>
              <a:gd name="connsiteY2" fmla="*/ 128587 h 4391025"/>
              <a:gd name="connsiteX3" fmla="*/ 2052230 w 4138206"/>
              <a:gd name="connsiteY3" fmla="*/ 128587 h 4391025"/>
              <a:gd name="connsiteX4" fmla="*/ 2052230 w 4138206"/>
              <a:gd name="connsiteY4" fmla="*/ 2081212 h 4391025"/>
              <a:gd name="connsiteX5" fmla="*/ 4138206 w 4138206"/>
              <a:gd name="connsiteY5" fmla="*/ 2081212 h 4391025"/>
              <a:gd name="connsiteX6" fmla="*/ 4138206 w 4138206"/>
              <a:gd name="connsiteY6" fmla="*/ 4391025 h 4391025"/>
              <a:gd name="connsiteX7" fmla="*/ 0 w 4138206"/>
              <a:gd name="connsiteY7" fmla="*/ 4391025 h 4391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138206" h="4391025">
                <a:moveTo>
                  <a:pt x="0" y="0"/>
                </a:moveTo>
                <a:lnTo>
                  <a:pt x="4138206" y="0"/>
                </a:lnTo>
                <a:lnTo>
                  <a:pt x="4138206" y="128587"/>
                </a:lnTo>
                <a:lnTo>
                  <a:pt x="2052230" y="128587"/>
                </a:lnTo>
                <a:lnTo>
                  <a:pt x="2052230" y="2081212"/>
                </a:lnTo>
                <a:lnTo>
                  <a:pt x="4138206" y="2081212"/>
                </a:lnTo>
                <a:lnTo>
                  <a:pt x="4138206" y="4391025"/>
                </a:lnTo>
                <a:lnTo>
                  <a:pt x="0" y="4391025"/>
                </a:lnTo>
                <a:close/>
              </a:path>
            </a:pathLst>
          </a:custGeom>
        </p:spPr>
      </p:pic>
      <p:graphicFrame>
        <p:nvGraphicFramePr>
          <p:cNvPr id="4" name="表格 3"/>
          <p:cNvGraphicFramePr/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513782196"/>
              </p:ext>
            </p:extLst>
          </p:nvPr>
        </p:nvGraphicFramePr>
        <p:xfrm>
          <a:off x="1871255" y="255270"/>
          <a:ext cx="7743825" cy="1828800"/>
        </p:xfrm>
        <a:graphic>
          <a:graphicData uri="http://schemas.openxmlformats.org/drawingml/2006/table">
            <a:tbl>
              <a:tblPr firstCol="1" bandCol="1">
                <a:tableStyleId>{B336826C-F471-4F4D-A487-091D767684D0}</a:tableStyleId>
              </a:tblPr>
              <a:tblGrid>
                <a:gridCol w="12655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55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655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655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6555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160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3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 dirty="0"/>
                        <a:t>姓名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第</a:t>
                      </a:r>
                      <a:r>
                        <a:rPr lang="en-US" altLang="zh-CN" sz="2400"/>
                        <a:t>1</a:t>
                      </a:r>
                      <a:r>
                        <a:rPr lang="zh-CN" altLang="en-US" sz="2400"/>
                        <a:t>次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第</a:t>
                      </a:r>
                      <a:r>
                        <a:rPr lang="en-US" altLang="zh-CN" sz="2400"/>
                        <a:t>2</a:t>
                      </a:r>
                      <a:r>
                        <a:rPr lang="zh-CN" altLang="en-US" sz="2400"/>
                        <a:t>次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第</a:t>
                      </a:r>
                      <a:r>
                        <a:rPr lang="en-US" altLang="zh-CN" sz="2400"/>
                        <a:t>3</a:t>
                      </a:r>
                      <a:r>
                        <a:rPr lang="zh-CN" altLang="en-US" sz="2400"/>
                        <a:t>次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第四次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最终成绩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小欣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zh-CN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zh-CN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zh-CN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zh-CN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zh-CN" sz="2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小红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zh-CN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zh-CN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zh-CN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zh-CN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zh-CN" sz="2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 dirty="0"/>
                        <a:t>小兰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zh-CN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zh-CN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zh-CN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2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cxnSp>
        <p:nvCxnSpPr>
          <p:cNvPr id="13" name="直接连接符 12"/>
          <p:cNvCxnSpPr/>
          <p:nvPr/>
        </p:nvCxnSpPr>
        <p:spPr>
          <a:prstGeom prst="lin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文本框 2"/>
          <p:cNvSpPr txBox="1"/>
          <p:nvPr/>
        </p:nvSpPr>
        <p:spPr>
          <a:xfrm>
            <a:off x="6954757" y="6033452"/>
            <a:ext cx="56769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b="1" dirty="0">
                <a:latin typeface="楷体" panose="02010609060101010101" pitchFamily="49" charset="-122"/>
                <a:ea typeface="楷体" panose="02010609060101010101" pitchFamily="49" charset="-122"/>
              </a:rPr>
              <a:t>次数</a:t>
            </a:r>
          </a:p>
        </p:txBody>
      </p:sp>
      <p:sp>
        <p:nvSpPr>
          <p:cNvPr id="5" name="文本框 4"/>
          <p:cNvSpPr txBox="1"/>
          <p:nvPr/>
        </p:nvSpPr>
        <p:spPr>
          <a:xfrm>
            <a:off x="6600318" y="2530670"/>
            <a:ext cx="115189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b="1" dirty="0">
                <a:latin typeface="楷体" panose="02010609060101010101" pitchFamily="49" charset="-122"/>
                <a:ea typeface="楷体" panose="02010609060101010101" pitchFamily="49" charset="-122"/>
              </a:rPr>
              <a:t>数量（个）</a:t>
            </a:r>
          </a:p>
        </p:txBody>
      </p:sp>
      <p:cxnSp>
        <p:nvCxnSpPr>
          <p:cNvPr id="6" name="直接箭头连接符 50"/>
          <p:cNvCxnSpPr>
            <a:cxnSpLocks/>
          </p:cNvCxnSpPr>
          <p:nvPr/>
        </p:nvCxnSpPr>
        <p:spPr>
          <a:xfrm flipH="1" flipV="1">
            <a:off x="3200319" y="2246243"/>
            <a:ext cx="9208" cy="396754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7" name="直接箭头连接符 51"/>
          <p:cNvCxnSpPr/>
          <p:nvPr/>
        </p:nvCxnSpPr>
        <p:spPr>
          <a:xfrm flipV="1">
            <a:off x="3218417" y="6201727"/>
            <a:ext cx="3727450" cy="1460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8" name="文本框 7"/>
          <p:cNvSpPr txBox="1"/>
          <p:nvPr/>
        </p:nvSpPr>
        <p:spPr>
          <a:xfrm>
            <a:off x="2983265" y="6074781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0</a:t>
            </a:r>
          </a:p>
        </p:txBody>
      </p:sp>
      <p:sp>
        <p:nvSpPr>
          <p:cNvPr id="9" name="文本框 8"/>
          <p:cNvSpPr txBox="1"/>
          <p:nvPr/>
        </p:nvSpPr>
        <p:spPr>
          <a:xfrm>
            <a:off x="2972672" y="5728945"/>
            <a:ext cx="480695" cy="3162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1</a:t>
            </a:r>
          </a:p>
        </p:txBody>
      </p:sp>
      <p:sp>
        <p:nvSpPr>
          <p:cNvPr id="11" name="文本框 10"/>
          <p:cNvSpPr txBox="1"/>
          <p:nvPr/>
        </p:nvSpPr>
        <p:spPr>
          <a:xfrm>
            <a:off x="2969497" y="5393616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2</a:t>
            </a:r>
          </a:p>
        </p:txBody>
      </p:sp>
      <p:sp>
        <p:nvSpPr>
          <p:cNvPr id="12" name="文本框 11"/>
          <p:cNvSpPr txBox="1"/>
          <p:nvPr/>
        </p:nvSpPr>
        <p:spPr>
          <a:xfrm>
            <a:off x="2970132" y="5076653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3</a:t>
            </a:r>
          </a:p>
        </p:txBody>
      </p:sp>
      <p:sp>
        <p:nvSpPr>
          <p:cNvPr id="16" name="文本框 15"/>
          <p:cNvSpPr txBox="1"/>
          <p:nvPr/>
        </p:nvSpPr>
        <p:spPr>
          <a:xfrm>
            <a:off x="2967592" y="4761595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4</a:t>
            </a:r>
          </a:p>
        </p:txBody>
      </p:sp>
      <p:sp>
        <p:nvSpPr>
          <p:cNvPr id="17" name="文本框 16"/>
          <p:cNvSpPr txBox="1"/>
          <p:nvPr/>
        </p:nvSpPr>
        <p:spPr>
          <a:xfrm>
            <a:off x="2962512" y="4459872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5</a:t>
            </a:r>
          </a:p>
        </p:txBody>
      </p:sp>
      <p:sp>
        <p:nvSpPr>
          <p:cNvPr id="18" name="文本框 17"/>
          <p:cNvSpPr txBox="1"/>
          <p:nvPr/>
        </p:nvSpPr>
        <p:spPr>
          <a:xfrm>
            <a:off x="2959972" y="4148526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6</a:t>
            </a:r>
          </a:p>
        </p:txBody>
      </p:sp>
      <p:sp>
        <p:nvSpPr>
          <p:cNvPr id="19" name="文本框 18"/>
          <p:cNvSpPr txBox="1"/>
          <p:nvPr/>
        </p:nvSpPr>
        <p:spPr>
          <a:xfrm>
            <a:off x="2968227" y="3843628"/>
            <a:ext cx="480695" cy="3359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7</a:t>
            </a:r>
          </a:p>
        </p:txBody>
      </p:sp>
      <p:sp>
        <p:nvSpPr>
          <p:cNvPr id="20" name="文本框 19"/>
          <p:cNvSpPr txBox="1"/>
          <p:nvPr/>
        </p:nvSpPr>
        <p:spPr>
          <a:xfrm>
            <a:off x="2965687" y="3503903"/>
            <a:ext cx="46482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8</a:t>
            </a:r>
          </a:p>
        </p:txBody>
      </p:sp>
      <p:sp>
        <p:nvSpPr>
          <p:cNvPr id="21" name="文本框 20"/>
          <p:cNvSpPr txBox="1"/>
          <p:nvPr/>
        </p:nvSpPr>
        <p:spPr>
          <a:xfrm>
            <a:off x="2970132" y="3173654"/>
            <a:ext cx="47053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9</a:t>
            </a:r>
          </a:p>
        </p:txBody>
      </p:sp>
      <p:sp>
        <p:nvSpPr>
          <p:cNvPr id="22" name="文本框 21"/>
          <p:cNvSpPr txBox="1"/>
          <p:nvPr/>
        </p:nvSpPr>
        <p:spPr>
          <a:xfrm>
            <a:off x="2891392" y="2885217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10</a:t>
            </a:r>
          </a:p>
        </p:txBody>
      </p:sp>
      <p:sp>
        <p:nvSpPr>
          <p:cNvPr id="24" name="文本框 23"/>
          <p:cNvSpPr txBox="1"/>
          <p:nvPr/>
        </p:nvSpPr>
        <p:spPr>
          <a:xfrm>
            <a:off x="3651487" y="4253229"/>
            <a:ext cx="3714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楷体" panose="02010609060101010101" pitchFamily="49" charset="-122"/>
                <a:ea typeface="楷体" panose="02010609060101010101" pitchFamily="49" charset="-122"/>
              </a:rPr>
              <a:t>5</a:t>
            </a:r>
          </a:p>
        </p:txBody>
      </p:sp>
      <p:sp>
        <p:nvSpPr>
          <p:cNvPr id="25" name="文本框 24"/>
          <p:cNvSpPr txBox="1"/>
          <p:nvPr/>
        </p:nvSpPr>
        <p:spPr>
          <a:xfrm>
            <a:off x="4377194" y="2988889"/>
            <a:ext cx="3714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楷体" panose="02010609060101010101" pitchFamily="49" charset="-122"/>
                <a:ea typeface="楷体" panose="02010609060101010101" pitchFamily="49" charset="-122"/>
              </a:rPr>
              <a:t>9</a:t>
            </a:r>
          </a:p>
        </p:txBody>
      </p:sp>
      <p:sp>
        <p:nvSpPr>
          <p:cNvPr id="26" name="文本框 25"/>
          <p:cNvSpPr txBox="1"/>
          <p:nvPr/>
        </p:nvSpPr>
        <p:spPr>
          <a:xfrm>
            <a:off x="5179143" y="3960238"/>
            <a:ext cx="371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楷体" panose="02010609060101010101" pitchFamily="49" charset="-122"/>
                <a:ea typeface="楷体" panose="02010609060101010101" pitchFamily="49" charset="-122"/>
              </a:rPr>
              <a:t>6</a:t>
            </a:r>
          </a:p>
        </p:txBody>
      </p:sp>
      <p:sp>
        <p:nvSpPr>
          <p:cNvPr id="27" name="文本框 26"/>
          <p:cNvSpPr txBox="1"/>
          <p:nvPr/>
        </p:nvSpPr>
        <p:spPr>
          <a:xfrm>
            <a:off x="5909548" y="3305021"/>
            <a:ext cx="3714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楷体" panose="02010609060101010101" pitchFamily="49" charset="-122"/>
                <a:ea typeface="楷体" panose="02010609060101010101" pitchFamily="49" charset="-122"/>
              </a:rPr>
              <a:t>8</a:t>
            </a:r>
          </a:p>
        </p:txBody>
      </p:sp>
      <p:pic>
        <p:nvPicPr>
          <p:cNvPr id="43" name="图片 4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96256" y="4621528"/>
            <a:ext cx="371317" cy="1591627"/>
          </a:xfrm>
          <a:prstGeom prst="rect">
            <a:avLst/>
          </a:prstGeom>
        </p:spPr>
      </p:pic>
      <p:pic>
        <p:nvPicPr>
          <p:cNvPr id="23" name="图片 2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58250" y="3026410"/>
            <a:ext cx="2724150" cy="2032000"/>
          </a:xfrm>
          <a:prstGeom prst="rect">
            <a:avLst/>
          </a:prstGeom>
        </p:spPr>
      </p:pic>
      <p:pic>
        <p:nvPicPr>
          <p:cNvPr id="33" name="图片 32">
            <a:extLst>
              <a:ext uri="{FF2B5EF4-FFF2-40B4-BE49-F238E27FC236}">
                <a16:creationId xmlns:a16="http://schemas.microsoft.com/office/drawing/2014/main" id="{20E04C78-F99B-91A4-329B-8DB4713F065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53436" y="3992987"/>
            <a:ext cx="371317" cy="2232969"/>
          </a:xfrm>
          <a:prstGeom prst="rect">
            <a:avLst/>
          </a:prstGeom>
        </p:spPr>
      </p:pic>
      <p:pic>
        <p:nvPicPr>
          <p:cNvPr id="34" name="图片 33">
            <a:extLst>
              <a:ext uri="{FF2B5EF4-FFF2-40B4-BE49-F238E27FC236}">
                <a16:creationId xmlns:a16="http://schemas.microsoft.com/office/drawing/2014/main" id="{6FF15AC2-8D51-706D-6001-19F213C5C4C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18169" y="4296723"/>
            <a:ext cx="371317" cy="1911728"/>
          </a:xfrm>
          <a:prstGeom prst="rect">
            <a:avLst/>
          </a:prstGeom>
        </p:spPr>
      </p:pic>
      <p:pic>
        <p:nvPicPr>
          <p:cNvPr id="35" name="图片 34">
            <a:extLst>
              <a:ext uri="{FF2B5EF4-FFF2-40B4-BE49-F238E27FC236}">
                <a16:creationId xmlns:a16="http://schemas.microsoft.com/office/drawing/2014/main" id="{B952A69B-44F9-B0B4-9E43-A13C111CB38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84680" y="3992987"/>
            <a:ext cx="371317" cy="2198481"/>
          </a:xfrm>
          <a:prstGeom prst="rect">
            <a:avLst/>
          </a:prstGeom>
        </p:spPr>
      </p:pic>
      <p:pic>
        <p:nvPicPr>
          <p:cNvPr id="36" name="图片 35">
            <a:extLst>
              <a:ext uri="{FF2B5EF4-FFF2-40B4-BE49-F238E27FC236}">
                <a16:creationId xmlns:a16="http://schemas.microsoft.com/office/drawing/2014/main" id="{765E9F89-60C2-E43E-B9FC-B30F8BF6E8C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53568" y="3349090"/>
            <a:ext cx="371317" cy="643897"/>
          </a:xfrm>
          <a:prstGeom prst="rect">
            <a:avLst/>
          </a:prstGeom>
        </p:spPr>
      </p:pic>
      <p:pic>
        <p:nvPicPr>
          <p:cNvPr id="37" name="图片 36">
            <a:extLst>
              <a:ext uri="{FF2B5EF4-FFF2-40B4-BE49-F238E27FC236}">
                <a16:creationId xmlns:a16="http://schemas.microsoft.com/office/drawing/2014/main" id="{2CB1EBAF-C815-D8BA-73F6-4CD4610DEF6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84680" y="3671039"/>
            <a:ext cx="371317" cy="321632"/>
          </a:xfrm>
          <a:prstGeom prst="rect">
            <a:avLst/>
          </a:prstGeom>
        </p:spPr>
      </p:pic>
      <p:sp>
        <p:nvSpPr>
          <p:cNvPr id="38" name="文本框 37">
            <a:extLst>
              <a:ext uri="{FF2B5EF4-FFF2-40B4-BE49-F238E27FC236}">
                <a16:creationId xmlns:a16="http://schemas.microsoft.com/office/drawing/2014/main" id="{B6987698-1EB0-804C-DB2F-4AD48179D2AE}"/>
              </a:ext>
            </a:extLst>
          </p:cNvPr>
          <p:cNvSpPr txBox="1"/>
          <p:nvPr/>
        </p:nvSpPr>
        <p:spPr>
          <a:xfrm>
            <a:off x="3608613" y="713259"/>
            <a:ext cx="3465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 dirty="0"/>
              <a:t>5</a:t>
            </a:r>
            <a:endParaRPr kumimoji="1" lang="zh-CN" altLang="en-US" sz="2400" dirty="0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A8B71E54-C874-E495-7EAB-894653617C29}"/>
              </a:ext>
            </a:extLst>
          </p:cNvPr>
          <p:cNvSpPr txBox="1"/>
          <p:nvPr/>
        </p:nvSpPr>
        <p:spPr>
          <a:xfrm>
            <a:off x="4836049" y="717377"/>
            <a:ext cx="3465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 dirty="0"/>
              <a:t>9</a:t>
            </a:r>
            <a:endParaRPr kumimoji="1" lang="zh-CN" altLang="en-US" sz="2400" dirty="0"/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71D828A0-430B-4479-0D16-7993C40BAA8C}"/>
              </a:ext>
            </a:extLst>
          </p:cNvPr>
          <p:cNvSpPr txBox="1"/>
          <p:nvPr/>
        </p:nvSpPr>
        <p:spPr>
          <a:xfrm>
            <a:off x="6158229" y="717375"/>
            <a:ext cx="3465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 dirty="0"/>
              <a:t>6</a:t>
            </a:r>
            <a:endParaRPr kumimoji="1" lang="zh-CN" altLang="en-US" sz="2400" dirty="0"/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49F9B62C-EF8D-C0FB-62B0-BDEE3C66D299}"/>
              </a:ext>
            </a:extLst>
          </p:cNvPr>
          <p:cNvSpPr txBox="1"/>
          <p:nvPr/>
        </p:nvSpPr>
        <p:spPr>
          <a:xfrm>
            <a:off x="7344487" y="717375"/>
            <a:ext cx="3465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 dirty="0"/>
              <a:t>8</a:t>
            </a:r>
            <a:endParaRPr kumimoji="1" lang="zh-CN" altLang="en-US" sz="2400" dirty="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0EC0CF82-94EC-F314-F35A-4AC2E533F735}"/>
              </a:ext>
            </a:extLst>
          </p:cNvPr>
          <p:cNvSpPr txBox="1"/>
          <p:nvPr/>
        </p:nvSpPr>
        <p:spPr>
          <a:xfrm>
            <a:off x="8691375" y="729732"/>
            <a:ext cx="3465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 dirty="0"/>
              <a:t>7</a:t>
            </a:r>
            <a:endParaRPr kumimoji="1" lang="zh-CN" altLang="en-US" sz="2400" dirty="0"/>
          </a:p>
        </p:txBody>
      </p:sp>
      <p:grpSp>
        <p:nvGrpSpPr>
          <p:cNvPr id="45" name="组合 44">
            <a:extLst>
              <a:ext uri="{FF2B5EF4-FFF2-40B4-BE49-F238E27FC236}">
                <a16:creationId xmlns:a16="http://schemas.microsoft.com/office/drawing/2014/main" id="{24E80376-9EA1-BF0B-0FEE-885F38496CC1}"/>
              </a:ext>
            </a:extLst>
          </p:cNvPr>
          <p:cNvGrpSpPr/>
          <p:nvPr/>
        </p:nvGrpSpPr>
        <p:grpSpPr>
          <a:xfrm>
            <a:off x="3168467" y="3717253"/>
            <a:ext cx="5432425" cy="521970"/>
            <a:chOff x="7193" y="3484"/>
            <a:chExt cx="8122" cy="822"/>
          </a:xfrm>
        </p:grpSpPr>
        <p:cxnSp>
          <p:nvCxnSpPr>
            <p:cNvPr id="46" name="直接连接符 12">
              <a:extLst>
                <a:ext uri="{FF2B5EF4-FFF2-40B4-BE49-F238E27FC236}">
                  <a16:creationId xmlns:a16="http://schemas.microsoft.com/office/drawing/2014/main" id="{BF39F215-1B18-0AD9-DD1D-B517F540C556}"/>
                </a:ext>
              </a:extLst>
            </p:cNvPr>
            <p:cNvCxnSpPr>
              <a:endCxn id="47" idx="1"/>
            </p:cNvCxnSpPr>
            <p:nvPr/>
          </p:nvCxnSpPr>
          <p:spPr>
            <a:xfrm flipV="1">
              <a:off x="7193" y="3895"/>
              <a:ext cx="5568" cy="1"/>
            </a:xfrm>
            <a:prstGeom prst="line">
              <a:avLst/>
            </a:prstGeom>
            <a:ln w="57150">
              <a:solidFill>
                <a:srgbClr val="FF000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文本框 46">
              <a:extLst>
                <a:ext uri="{FF2B5EF4-FFF2-40B4-BE49-F238E27FC236}">
                  <a16:creationId xmlns:a16="http://schemas.microsoft.com/office/drawing/2014/main" id="{2174659B-F1B5-64E3-9C06-D53E736990DC}"/>
                </a:ext>
              </a:extLst>
            </p:cNvPr>
            <p:cNvSpPr txBox="1"/>
            <p:nvPr/>
          </p:nvSpPr>
          <p:spPr>
            <a:xfrm>
              <a:off x="12761" y="3484"/>
              <a:ext cx="2554" cy="8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800" dirty="0">
                  <a:ln w="0"/>
                  <a:solidFill>
                    <a:srgbClr val="FF0000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楷体" panose="02010609060101010101" pitchFamily="49" charset="-122"/>
                  <a:ea typeface="楷体" panose="02010609060101010101" pitchFamily="49" charset="-122"/>
                  <a:cs typeface="楷体" panose="02010609060101010101" pitchFamily="49" charset="-122"/>
                </a:rPr>
                <a:t>平均数</a:t>
              </a:r>
              <a:r>
                <a:rPr lang="en-US" altLang="zh-CN" sz="2800" dirty="0">
                  <a:ln w="0"/>
                  <a:solidFill>
                    <a:srgbClr val="FF0000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楷体" panose="02010609060101010101" pitchFamily="49" charset="-122"/>
                  <a:ea typeface="楷体" panose="02010609060101010101" pitchFamily="49" charset="-122"/>
                  <a:cs typeface="楷体" panose="02010609060101010101" pitchFamily="49" charset="-122"/>
                </a:rPr>
                <a:t>7 </a:t>
              </a:r>
              <a:endParaRPr lang="zh-CN" altLang="en-US" sz="2800" dirty="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4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4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4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5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5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5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6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6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6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6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8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8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84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87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90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9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96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99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02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375E-6 4.81481E-6 C -0.01914 0.00208 -0.03803 0.00486 -0.04844 0.0199 C -0.05886 0.03541 -0.06042 0.07638 -0.06224 0.09143 " pathEditMode="relative" rAng="0" ptsTypes="AAA">
                                      <p:cBhvr>
                                        <p:cTn id="106" dur="2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112" y="4560"/>
                                    </p:animMotion>
                                  </p:childTnLst>
                                </p:cTn>
                              </p:par>
                              <p:par>
                                <p:cTn id="107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4.81481E-6 C -0.02045 0.00163 -0.04076 0.00348 -0.05104 0.01088 C -0.06146 0.01852 -0.07396 0.03496 -0.06289 0.04514 " pathEditMode="relative" rAng="0" ptsTypes="AAA">
                                      <p:cBhvr>
                                        <p:cTn id="108" dur="2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359" y="2245"/>
                                    </p:animMotion>
                                  </p:childTnLst>
                                </p:cTn>
                              </p:par>
                              <p:par>
                                <p:cTn id="109" presetID="3" presetClass="exit" presetSubtype="1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11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2" presetID="3" presetClass="exit" presetSubtype="1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11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3" presetClass="exit" presetSubtype="1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11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8" presetID="3" presetClass="exit" presetSubtype="1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11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1" fill="hold">
                      <p:stCondLst>
                        <p:cond delay="indefinite"/>
                      </p:stCondLst>
                      <p:childTnLst>
                        <p:par>
                          <p:cTn id="122" fill="hold">
                            <p:stCondLst>
                              <p:cond delay="0"/>
                            </p:stCondLst>
                            <p:childTnLst>
                              <p:par>
                                <p:cTn id="12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5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2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uction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6" fill="hold">
                      <p:stCondLst>
                        <p:cond delay="indefinite"/>
                      </p:stCondLst>
                      <p:childTnLst>
                        <p:par>
                          <p:cTn id="127" fill="hold">
                            <p:stCondLst>
                              <p:cond delay="0"/>
                            </p:stCondLst>
                            <p:childTnLst>
                              <p:par>
                                <p:cTn id="128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30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8" grpId="0"/>
      <p:bldP spid="9" grpId="0"/>
      <p:bldP spid="11" grpId="0"/>
      <p:bldP spid="12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4" grpId="0"/>
      <p:bldP spid="24" grpId="1"/>
      <p:bldP spid="25" grpId="0"/>
      <p:bldP spid="25" grpId="1"/>
      <p:bldP spid="26" grpId="0"/>
      <p:bldP spid="26" grpId="1"/>
      <p:bldP spid="27" grpId="0"/>
      <p:bldP spid="27" grpId="1"/>
      <p:bldP spid="38" grpId="0"/>
      <p:bldP spid="40" grpId="0"/>
      <p:bldP spid="41" grpId="0"/>
      <p:bldP spid="42" grpId="0"/>
      <p:bldP spid="4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3" name="表格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0819121"/>
              </p:ext>
            </p:extLst>
          </p:nvPr>
        </p:nvGraphicFramePr>
        <p:xfrm>
          <a:off x="3055651" y="3042357"/>
          <a:ext cx="3429000" cy="3175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81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 dirty="0">
                          <a:effectLst/>
                        </a:rPr>
                        <a:t>　</a:t>
                      </a:r>
                      <a:endParaRPr lang="zh-CN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 dirty="0">
                          <a:effectLst/>
                        </a:rPr>
                        <a:t>　</a:t>
                      </a:r>
                      <a:endParaRPr lang="zh-CN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 dirty="0">
                          <a:effectLst/>
                        </a:rPr>
                        <a:t>　</a:t>
                      </a:r>
                      <a:endParaRPr lang="zh-CN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 dirty="0">
                          <a:effectLst/>
                        </a:rPr>
                        <a:t>　</a:t>
                      </a:r>
                      <a:endParaRPr lang="zh-CN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 dirty="0">
                          <a:effectLst/>
                        </a:rPr>
                        <a:t>　</a:t>
                      </a:r>
                      <a:endParaRPr lang="zh-CN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 dirty="0">
                          <a:effectLst/>
                        </a:rPr>
                        <a:t>　</a:t>
                      </a:r>
                      <a:endParaRPr lang="zh-CN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 dirty="0">
                          <a:effectLst/>
                        </a:rPr>
                        <a:t>　</a:t>
                      </a:r>
                      <a:endParaRPr lang="zh-CN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 dirty="0">
                          <a:effectLst/>
                        </a:rPr>
                        <a:t>　</a:t>
                      </a:r>
                      <a:endParaRPr lang="zh-CN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 dirty="0">
                          <a:effectLst/>
                        </a:rPr>
                        <a:t>　</a:t>
                      </a:r>
                      <a:endParaRPr lang="zh-CN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pic>
        <p:nvPicPr>
          <p:cNvPr id="15" name="图片 14" descr="图片包含 游戏机, 钟表, 仪表&#10;&#10;描述已自动生成"/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304" t="40998"/>
          <a:stretch>
            <a:fillRect/>
          </a:stretch>
        </p:blipFill>
        <p:spPr>
          <a:xfrm>
            <a:off x="10487025" y="5543346"/>
            <a:ext cx="2242643" cy="1314653"/>
          </a:xfrm>
          <a:custGeom>
            <a:avLst/>
            <a:gdLst>
              <a:gd name="connsiteX0" fmla="*/ 0 w 4419600"/>
              <a:gd name="connsiteY0" fmla="*/ 0 h 2590800"/>
              <a:gd name="connsiteX1" fmla="*/ 4419600 w 4419600"/>
              <a:gd name="connsiteY1" fmla="*/ 0 h 2590800"/>
              <a:gd name="connsiteX2" fmla="*/ 4419600 w 4419600"/>
              <a:gd name="connsiteY2" fmla="*/ 2590800 h 2590800"/>
              <a:gd name="connsiteX3" fmla="*/ 0 w 4419600"/>
              <a:gd name="connsiteY3" fmla="*/ 2590800 h 2590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19600" h="2590800">
                <a:moveTo>
                  <a:pt x="0" y="0"/>
                </a:moveTo>
                <a:lnTo>
                  <a:pt x="4419600" y="0"/>
                </a:lnTo>
                <a:lnTo>
                  <a:pt x="4419600" y="2590800"/>
                </a:lnTo>
                <a:lnTo>
                  <a:pt x="0" y="2590800"/>
                </a:lnTo>
                <a:close/>
              </a:path>
            </a:pathLst>
          </a:custGeom>
        </p:spPr>
      </p:pic>
      <p:pic>
        <p:nvPicPr>
          <p:cNvPr id="10" name="图片 9" descr="图片包含 游戏机, 钟表, 仪表&#10;&#10;描述已自动生成"/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751" r="62477" b="55965"/>
          <a:stretch>
            <a:fillRect/>
          </a:stretch>
        </p:blipFill>
        <p:spPr>
          <a:xfrm>
            <a:off x="-152400" y="-171450"/>
            <a:ext cx="1829926" cy="1485900"/>
          </a:xfrm>
          <a:custGeom>
            <a:avLst/>
            <a:gdLst>
              <a:gd name="connsiteX0" fmla="*/ 0 w 2381250"/>
              <a:gd name="connsiteY0" fmla="*/ 0 h 1933575"/>
              <a:gd name="connsiteX1" fmla="*/ 2381250 w 2381250"/>
              <a:gd name="connsiteY1" fmla="*/ 0 h 1933575"/>
              <a:gd name="connsiteX2" fmla="*/ 2381250 w 2381250"/>
              <a:gd name="connsiteY2" fmla="*/ 1933575 h 1933575"/>
              <a:gd name="connsiteX3" fmla="*/ 0 w 2381250"/>
              <a:gd name="connsiteY3" fmla="*/ 1933575 h 19335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81250" h="1933575">
                <a:moveTo>
                  <a:pt x="0" y="0"/>
                </a:moveTo>
                <a:lnTo>
                  <a:pt x="2381250" y="0"/>
                </a:lnTo>
                <a:lnTo>
                  <a:pt x="2381250" y="1933575"/>
                </a:lnTo>
                <a:lnTo>
                  <a:pt x="0" y="1933575"/>
                </a:lnTo>
                <a:close/>
              </a:path>
            </a:pathLst>
          </a:custGeom>
        </p:spPr>
      </p:pic>
      <p:pic>
        <p:nvPicPr>
          <p:cNvPr id="14" name="图片 13" descr="图片包含 游戏机, 钟表, 仪表&#10;&#10;描述已自动生成"/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641"/>
          <a:stretch>
            <a:fillRect/>
          </a:stretch>
        </p:blipFill>
        <p:spPr>
          <a:xfrm>
            <a:off x="-228600" y="4629857"/>
            <a:ext cx="2099855" cy="2228143"/>
          </a:xfrm>
          <a:custGeom>
            <a:avLst/>
            <a:gdLst>
              <a:gd name="connsiteX0" fmla="*/ 0 w 4138206"/>
              <a:gd name="connsiteY0" fmla="*/ 0 h 4391025"/>
              <a:gd name="connsiteX1" fmla="*/ 4138206 w 4138206"/>
              <a:gd name="connsiteY1" fmla="*/ 0 h 4391025"/>
              <a:gd name="connsiteX2" fmla="*/ 4138206 w 4138206"/>
              <a:gd name="connsiteY2" fmla="*/ 128587 h 4391025"/>
              <a:gd name="connsiteX3" fmla="*/ 2052230 w 4138206"/>
              <a:gd name="connsiteY3" fmla="*/ 128587 h 4391025"/>
              <a:gd name="connsiteX4" fmla="*/ 2052230 w 4138206"/>
              <a:gd name="connsiteY4" fmla="*/ 2081212 h 4391025"/>
              <a:gd name="connsiteX5" fmla="*/ 4138206 w 4138206"/>
              <a:gd name="connsiteY5" fmla="*/ 2081212 h 4391025"/>
              <a:gd name="connsiteX6" fmla="*/ 4138206 w 4138206"/>
              <a:gd name="connsiteY6" fmla="*/ 4391025 h 4391025"/>
              <a:gd name="connsiteX7" fmla="*/ 0 w 4138206"/>
              <a:gd name="connsiteY7" fmla="*/ 4391025 h 4391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138206" h="4391025">
                <a:moveTo>
                  <a:pt x="0" y="0"/>
                </a:moveTo>
                <a:lnTo>
                  <a:pt x="4138206" y="0"/>
                </a:lnTo>
                <a:lnTo>
                  <a:pt x="4138206" y="128587"/>
                </a:lnTo>
                <a:lnTo>
                  <a:pt x="2052230" y="128587"/>
                </a:lnTo>
                <a:lnTo>
                  <a:pt x="2052230" y="2081212"/>
                </a:lnTo>
                <a:lnTo>
                  <a:pt x="4138206" y="2081212"/>
                </a:lnTo>
                <a:lnTo>
                  <a:pt x="4138206" y="4391025"/>
                </a:lnTo>
                <a:lnTo>
                  <a:pt x="0" y="4391025"/>
                </a:lnTo>
                <a:close/>
              </a:path>
            </a:pathLst>
          </a:custGeom>
        </p:spPr>
      </p:pic>
      <p:cxnSp>
        <p:nvCxnSpPr>
          <p:cNvPr id="13" name="直接连接符 12"/>
          <p:cNvCxnSpPr/>
          <p:nvPr/>
        </p:nvCxnSpPr>
        <p:spPr>
          <a:prstGeom prst="lin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6" name="文本框 5"/>
          <p:cNvSpPr txBox="1"/>
          <p:nvPr/>
        </p:nvSpPr>
        <p:spPr>
          <a:xfrm>
            <a:off x="6798519" y="6050137"/>
            <a:ext cx="56769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b="1" dirty="0">
                <a:latin typeface="楷体" panose="02010609060101010101" pitchFamily="49" charset="-122"/>
                <a:ea typeface="楷体" panose="02010609060101010101" pitchFamily="49" charset="-122"/>
              </a:rPr>
              <a:t>序号</a:t>
            </a:r>
          </a:p>
        </p:txBody>
      </p:sp>
      <p:sp>
        <p:nvSpPr>
          <p:cNvPr id="7" name="文本框 6"/>
          <p:cNvSpPr txBox="1"/>
          <p:nvPr/>
        </p:nvSpPr>
        <p:spPr>
          <a:xfrm>
            <a:off x="6444080" y="2547355"/>
            <a:ext cx="115189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b="1" dirty="0">
                <a:latin typeface="楷体" panose="02010609060101010101" pitchFamily="49" charset="-122"/>
                <a:ea typeface="楷体" panose="02010609060101010101" pitchFamily="49" charset="-122"/>
              </a:rPr>
              <a:t>数量（个）</a:t>
            </a:r>
          </a:p>
        </p:txBody>
      </p:sp>
      <p:cxnSp>
        <p:nvCxnSpPr>
          <p:cNvPr id="8" name="直接箭头连接符 50"/>
          <p:cNvCxnSpPr/>
          <p:nvPr/>
        </p:nvCxnSpPr>
        <p:spPr>
          <a:xfrm flipV="1">
            <a:off x="3053289" y="2649419"/>
            <a:ext cx="2362" cy="358105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9" name="直接箭头连接符 51"/>
          <p:cNvCxnSpPr/>
          <p:nvPr/>
        </p:nvCxnSpPr>
        <p:spPr>
          <a:xfrm flipV="1">
            <a:off x="3062179" y="6218377"/>
            <a:ext cx="3736340" cy="1464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1" name="文本框 10"/>
          <p:cNvSpPr txBox="1"/>
          <p:nvPr/>
        </p:nvSpPr>
        <p:spPr>
          <a:xfrm>
            <a:off x="2827027" y="6091466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0</a:t>
            </a:r>
          </a:p>
        </p:txBody>
      </p:sp>
      <p:sp>
        <p:nvSpPr>
          <p:cNvPr id="12" name="文本框 11"/>
          <p:cNvSpPr txBox="1"/>
          <p:nvPr/>
        </p:nvSpPr>
        <p:spPr>
          <a:xfrm>
            <a:off x="2816434" y="5745630"/>
            <a:ext cx="480695" cy="3162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1</a:t>
            </a:r>
          </a:p>
        </p:txBody>
      </p:sp>
      <p:sp>
        <p:nvSpPr>
          <p:cNvPr id="16" name="文本框 15"/>
          <p:cNvSpPr txBox="1"/>
          <p:nvPr/>
        </p:nvSpPr>
        <p:spPr>
          <a:xfrm>
            <a:off x="2813259" y="5410301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2</a:t>
            </a:r>
          </a:p>
        </p:txBody>
      </p:sp>
      <p:sp>
        <p:nvSpPr>
          <p:cNvPr id="17" name="文本框 16"/>
          <p:cNvSpPr txBox="1"/>
          <p:nvPr/>
        </p:nvSpPr>
        <p:spPr>
          <a:xfrm>
            <a:off x="2813894" y="5093338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3</a:t>
            </a:r>
          </a:p>
        </p:txBody>
      </p:sp>
      <p:sp>
        <p:nvSpPr>
          <p:cNvPr id="18" name="文本框 17"/>
          <p:cNvSpPr txBox="1"/>
          <p:nvPr/>
        </p:nvSpPr>
        <p:spPr>
          <a:xfrm>
            <a:off x="2811354" y="4778280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4</a:t>
            </a:r>
          </a:p>
        </p:txBody>
      </p:sp>
      <p:sp>
        <p:nvSpPr>
          <p:cNvPr id="19" name="文本框 18"/>
          <p:cNvSpPr txBox="1"/>
          <p:nvPr/>
        </p:nvSpPr>
        <p:spPr>
          <a:xfrm>
            <a:off x="2806274" y="4476557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5</a:t>
            </a:r>
          </a:p>
        </p:txBody>
      </p:sp>
      <p:sp>
        <p:nvSpPr>
          <p:cNvPr id="20" name="文本框 19"/>
          <p:cNvSpPr txBox="1"/>
          <p:nvPr/>
        </p:nvSpPr>
        <p:spPr>
          <a:xfrm>
            <a:off x="2803734" y="4165211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6</a:t>
            </a:r>
          </a:p>
        </p:txBody>
      </p:sp>
      <p:sp>
        <p:nvSpPr>
          <p:cNvPr id="21" name="文本框 20"/>
          <p:cNvSpPr txBox="1"/>
          <p:nvPr/>
        </p:nvSpPr>
        <p:spPr>
          <a:xfrm>
            <a:off x="2811989" y="3860313"/>
            <a:ext cx="480695" cy="3359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7</a:t>
            </a:r>
          </a:p>
        </p:txBody>
      </p:sp>
      <p:sp>
        <p:nvSpPr>
          <p:cNvPr id="22" name="文本框 21"/>
          <p:cNvSpPr txBox="1"/>
          <p:nvPr/>
        </p:nvSpPr>
        <p:spPr>
          <a:xfrm>
            <a:off x="2809449" y="3520588"/>
            <a:ext cx="46482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8</a:t>
            </a:r>
          </a:p>
        </p:txBody>
      </p:sp>
      <p:sp>
        <p:nvSpPr>
          <p:cNvPr id="23" name="文本框 22"/>
          <p:cNvSpPr txBox="1"/>
          <p:nvPr/>
        </p:nvSpPr>
        <p:spPr>
          <a:xfrm>
            <a:off x="2813894" y="3190339"/>
            <a:ext cx="47053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9</a:t>
            </a:r>
          </a:p>
        </p:txBody>
      </p:sp>
      <p:sp>
        <p:nvSpPr>
          <p:cNvPr id="24" name="文本框 23"/>
          <p:cNvSpPr txBox="1"/>
          <p:nvPr/>
        </p:nvSpPr>
        <p:spPr>
          <a:xfrm>
            <a:off x="2735154" y="2901902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10</a:t>
            </a:r>
          </a:p>
        </p:txBody>
      </p:sp>
      <p:sp>
        <p:nvSpPr>
          <p:cNvPr id="25" name="文本框 24"/>
          <p:cNvSpPr txBox="1"/>
          <p:nvPr/>
        </p:nvSpPr>
        <p:spPr>
          <a:xfrm>
            <a:off x="3471803" y="3988562"/>
            <a:ext cx="3714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楷体" panose="02010609060101010101" pitchFamily="49" charset="-122"/>
                <a:ea typeface="楷体" panose="02010609060101010101" pitchFamily="49" charset="-122"/>
              </a:rPr>
              <a:t>6</a:t>
            </a:r>
          </a:p>
        </p:txBody>
      </p:sp>
      <p:sp>
        <p:nvSpPr>
          <p:cNvPr id="26" name="文本框 25"/>
          <p:cNvSpPr txBox="1"/>
          <p:nvPr/>
        </p:nvSpPr>
        <p:spPr>
          <a:xfrm>
            <a:off x="4220956" y="3050180"/>
            <a:ext cx="3714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楷体" panose="02010609060101010101" pitchFamily="49" charset="-122"/>
                <a:ea typeface="楷体" panose="02010609060101010101" pitchFamily="49" charset="-122"/>
              </a:rPr>
              <a:t>9</a:t>
            </a:r>
          </a:p>
        </p:txBody>
      </p:sp>
      <p:sp>
        <p:nvSpPr>
          <p:cNvPr id="27" name="文本框 26"/>
          <p:cNvSpPr txBox="1"/>
          <p:nvPr/>
        </p:nvSpPr>
        <p:spPr>
          <a:xfrm>
            <a:off x="4999459" y="4628316"/>
            <a:ext cx="371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楷体" panose="02010609060101010101" pitchFamily="49" charset="-122"/>
                <a:ea typeface="楷体" panose="02010609060101010101" pitchFamily="49" charset="-122"/>
              </a:rPr>
              <a:t>4</a:t>
            </a:r>
          </a:p>
        </p:txBody>
      </p:sp>
      <p:sp>
        <p:nvSpPr>
          <p:cNvPr id="35" name="文本框 34"/>
          <p:cNvSpPr txBox="1"/>
          <p:nvPr/>
        </p:nvSpPr>
        <p:spPr>
          <a:xfrm>
            <a:off x="5761455" y="4276627"/>
            <a:ext cx="371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楷体" panose="02010609060101010101" pitchFamily="49" charset="-122"/>
                <a:ea typeface="楷体" panose="02010609060101010101" pitchFamily="49" charset="-122"/>
              </a:rPr>
              <a:t>5</a:t>
            </a:r>
          </a:p>
        </p:txBody>
      </p:sp>
      <p:graphicFrame>
        <p:nvGraphicFramePr>
          <p:cNvPr id="4" name="表格 3"/>
          <p:cNvGraphicFramePr/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628017725"/>
              </p:ext>
            </p:extLst>
          </p:nvPr>
        </p:nvGraphicFramePr>
        <p:xfrm>
          <a:off x="1871255" y="255270"/>
          <a:ext cx="7743825" cy="1828800"/>
        </p:xfrm>
        <a:graphic>
          <a:graphicData uri="http://schemas.openxmlformats.org/drawingml/2006/table">
            <a:tbl>
              <a:tblPr firstCol="1" bandCol="1">
                <a:tableStyleId>{B336826C-F471-4F4D-A487-091D767684D0}</a:tableStyleId>
              </a:tblPr>
              <a:tblGrid>
                <a:gridCol w="12655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55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655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655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6555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160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3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 dirty="0"/>
                        <a:t>姓名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第</a:t>
                      </a:r>
                      <a:r>
                        <a:rPr lang="en-US" altLang="zh-CN" sz="2400"/>
                        <a:t>1</a:t>
                      </a:r>
                      <a:r>
                        <a:rPr lang="zh-CN" altLang="en-US" sz="2400"/>
                        <a:t>次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第</a:t>
                      </a:r>
                      <a:r>
                        <a:rPr lang="en-US" altLang="zh-CN" sz="2400"/>
                        <a:t>2</a:t>
                      </a:r>
                      <a:r>
                        <a:rPr lang="zh-CN" altLang="en-US" sz="2400"/>
                        <a:t>次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第</a:t>
                      </a:r>
                      <a:r>
                        <a:rPr lang="en-US" altLang="zh-CN" sz="2400"/>
                        <a:t>3</a:t>
                      </a:r>
                      <a:r>
                        <a:rPr lang="zh-CN" altLang="en-US" sz="2400"/>
                        <a:t>次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第四次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最终成绩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小欣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小红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zh-CN" sz="2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 dirty="0"/>
                        <a:t>小兰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zh-CN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zh-CN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zh-CN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2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5" name="图片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87690" y="3418205"/>
            <a:ext cx="2838450" cy="1758950"/>
          </a:xfrm>
          <a:prstGeom prst="rect">
            <a:avLst/>
          </a:prstGeom>
        </p:spPr>
      </p:pic>
      <p:cxnSp>
        <p:nvCxnSpPr>
          <p:cNvPr id="3" name="直接连接符 12">
            <a:extLst>
              <a:ext uri="{FF2B5EF4-FFF2-40B4-BE49-F238E27FC236}">
                <a16:creationId xmlns:a16="http://schemas.microsoft.com/office/drawing/2014/main" id="{494C3B72-8710-AAE0-046F-AC4F5D8C7296}"/>
              </a:ext>
            </a:extLst>
          </p:cNvPr>
          <p:cNvCxnSpPr>
            <a:cxnSpLocks/>
          </p:cNvCxnSpPr>
          <p:nvPr/>
        </p:nvCxnSpPr>
        <p:spPr>
          <a:xfrm>
            <a:off x="3055651" y="3360354"/>
            <a:ext cx="3724174" cy="0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接连接符 12">
            <a:extLst>
              <a:ext uri="{FF2B5EF4-FFF2-40B4-BE49-F238E27FC236}">
                <a16:creationId xmlns:a16="http://schemas.microsoft.com/office/drawing/2014/main" id="{B51CB7A9-D896-C5FF-8153-960BE69BD411}"/>
              </a:ext>
            </a:extLst>
          </p:cNvPr>
          <p:cNvCxnSpPr>
            <a:cxnSpLocks/>
          </p:cNvCxnSpPr>
          <p:nvPr/>
        </p:nvCxnSpPr>
        <p:spPr>
          <a:xfrm>
            <a:off x="3062179" y="4954210"/>
            <a:ext cx="3724174" cy="0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9" name="组合 48">
            <a:extLst>
              <a:ext uri="{FF2B5EF4-FFF2-40B4-BE49-F238E27FC236}">
                <a16:creationId xmlns:a16="http://schemas.microsoft.com/office/drawing/2014/main" id="{479923B8-E817-3879-AD6B-F9AFF702EAAB}"/>
              </a:ext>
            </a:extLst>
          </p:cNvPr>
          <p:cNvGrpSpPr/>
          <p:nvPr/>
        </p:nvGrpSpPr>
        <p:grpSpPr>
          <a:xfrm>
            <a:off x="3026954" y="4046849"/>
            <a:ext cx="5432425" cy="521970"/>
            <a:chOff x="7193" y="3501"/>
            <a:chExt cx="8122" cy="822"/>
          </a:xfrm>
        </p:grpSpPr>
        <p:cxnSp>
          <p:nvCxnSpPr>
            <p:cNvPr id="50" name="直接连接符 12">
              <a:extLst>
                <a:ext uri="{FF2B5EF4-FFF2-40B4-BE49-F238E27FC236}">
                  <a16:creationId xmlns:a16="http://schemas.microsoft.com/office/drawing/2014/main" id="{5F2F4D83-3E6C-BFED-CB43-DA3271295C92}"/>
                </a:ext>
              </a:extLst>
            </p:cNvPr>
            <p:cNvCxnSpPr>
              <a:endCxn id="51" idx="1"/>
            </p:cNvCxnSpPr>
            <p:nvPr/>
          </p:nvCxnSpPr>
          <p:spPr>
            <a:xfrm flipV="1">
              <a:off x="7193" y="3912"/>
              <a:ext cx="5568" cy="1"/>
            </a:xfrm>
            <a:prstGeom prst="line">
              <a:avLst/>
            </a:prstGeom>
            <a:ln w="57150">
              <a:solidFill>
                <a:srgbClr val="FF000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文本框 50">
              <a:extLst>
                <a:ext uri="{FF2B5EF4-FFF2-40B4-BE49-F238E27FC236}">
                  <a16:creationId xmlns:a16="http://schemas.microsoft.com/office/drawing/2014/main" id="{F3B35137-A4D7-732A-EA07-F6481425E651}"/>
                </a:ext>
              </a:extLst>
            </p:cNvPr>
            <p:cNvSpPr txBox="1"/>
            <p:nvPr/>
          </p:nvSpPr>
          <p:spPr>
            <a:xfrm>
              <a:off x="12761" y="3501"/>
              <a:ext cx="2554" cy="8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800" dirty="0">
                  <a:ln w="0"/>
                  <a:solidFill>
                    <a:srgbClr val="FF0000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楷体" panose="02010609060101010101" pitchFamily="49" charset="-122"/>
                  <a:ea typeface="楷体" panose="02010609060101010101" pitchFamily="49" charset="-122"/>
                  <a:cs typeface="楷体" panose="02010609060101010101" pitchFamily="49" charset="-122"/>
                </a:rPr>
                <a:t>平均数</a:t>
              </a:r>
              <a:r>
                <a:rPr lang="en-US" altLang="zh-CN" sz="2800" dirty="0">
                  <a:ln w="0"/>
                  <a:solidFill>
                    <a:srgbClr val="FF0000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楷体" panose="02010609060101010101" pitchFamily="49" charset="-122"/>
                  <a:ea typeface="楷体" panose="02010609060101010101" pitchFamily="49" charset="-122"/>
                  <a:cs typeface="楷体" panose="02010609060101010101" pitchFamily="49" charset="-122"/>
                </a:rPr>
                <a:t>6 </a:t>
              </a:r>
              <a:endParaRPr lang="zh-CN" altLang="en-US" sz="2800" dirty="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endParaRPr>
            </a:p>
          </p:txBody>
        </p:sp>
      </p:grpSp>
      <p:sp>
        <p:nvSpPr>
          <p:cNvPr id="52" name="文本框 51">
            <a:extLst>
              <a:ext uri="{FF2B5EF4-FFF2-40B4-BE49-F238E27FC236}">
                <a16:creationId xmlns:a16="http://schemas.microsoft.com/office/drawing/2014/main" id="{B82E36E8-2E50-A821-4BC7-79E1C19B9E32}"/>
              </a:ext>
            </a:extLst>
          </p:cNvPr>
          <p:cNvSpPr txBox="1"/>
          <p:nvPr/>
        </p:nvSpPr>
        <p:spPr>
          <a:xfrm>
            <a:off x="8740803" y="1162224"/>
            <a:ext cx="3465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 dirty="0"/>
              <a:t>6</a:t>
            </a:r>
            <a:endParaRPr kumimoji="1" lang="zh-CN" altLang="en-US" sz="2400" dirty="0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971B919F-8622-AFCD-68B1-FD05D586810B}"/>
              </a:ext>
            </a:extLst>
          </p:cNvPr>
          <p:cNvSpPr txBox="1"/>
          <p:nvPr/>
        </p:nvSpPr>
        <p:spPr>
          <a:xfrm>
            <a:off x="6786353" y="3080581"/>
            <a:ext cx="1708251" cy="5232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dirty="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rPr>
              <a:t>最大数</a:t>
            </a:r>
            <a:r>
              <a:rPr lang="en-US" altLang="zh-CN" sz="2800" dirty="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rPr>
              <a:t> </a:t>
            </a:r>
            <a:endParaRPr lang="zh-CN" altLang="en-US" sz="2800" dirty="0">
              <a:ln w="0"/>
              <a:solidFill>
                <a:srgbClr val="FF0000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  <a:cs typeface="楷体" panose="02010609060101010101" pitchFamily="49" charset="-122"/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E4D4E040-26AE-6703-B660-DBCA5000CB52}"/>
              </a:ext>
            </a:extLst>
          </p:cNvPr>
          <p:cNvSpPr txBox="1"/>
          <p:nvPr/>
        </p:nvSpPr>
        <p:spPr>
          <a:xfrm>
            <a:off x="6748963" y="4656625"/>
            <a:ext cx="1708251" cy="5232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dirty="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rPr>
              <a:t>最小数</a:t>
            </a:r>
          </a:p>
        </p:txBody>
      </p:sp>
      <p:pic>
        <p:nvPicPr>
          <p:cNvPr id="37" name="图片 36">
            <a:extLst>
              <a:ext uri="{FF2B5EF4-FFF2-40B4-BE49-F238E27FC236}">
                <a16:creationId xmlns:a16="http://schemas.microsoft.com/office/drawing/2014/main" id="{036C7742-67A2-5EE0-9842-2EECCC0007F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33860" y="4304982"/>
            <a:ext cx="383228" cy="1904432"/>
          </a:xfrm>
          <a:prstGeom prst="rect">
            <a:avLst/>
          </a:prstGeom>
        </p:spPr>
      </p:pic>
      <p:pic>
        <p:nvPicPr>
          <p:cNvPr id="38" name="图片 37">
            <a:extLst>
              <a:ext uri="{FF2B5EF4-FFF2-40B4-BE49-F238E27FC236}">
                <a16:creationId xmlns:a16="http://schemas.microsoft.com/office/drawing/2014/main" id="{B8F9F482-585F-2EAC-C5B7-16C76679EE7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91775" y="3360963"/>
            <a:ext cx="383228" cy="2872051"/>
          </a:xfrm>
          <a:prstGeom prst="rect">
            <a:avLst/>
          </a:prstGeom>
        </p:spPr>
      </p:pic>
      <p:pic>
        <p:nvPicPr>
          <p:cNvPr id="43" name="图片 42">
            <a:extLst>
              <a:ext uri="{FF2B5EF4-FFF2-40B4-BE49-F238E27FC236}">
                <a16:creationId xmlns:a16="http://schemas.microsoft.com/office/drawing/2014/main" id="{3799C410-1E7D-D31A-3025-B0D34BBF5B4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58690" y="4953033"/>
            <a:ext cx="383228" cy="1256723"/>
          </a:xfrm>
          <a:prstGeom prst="rect">
            <a:avLst/>
          </a:prstGeom>
        </p:spPr>
      </p:pic>
      <p:pic>
        <p:nvPicPr>
          <p:cNvPr id="44" name="图片 43">
            <a:extLst>
              <a:ext uri="{FF2B5EF4-FFF2-40B4-BE49-F238E27FC236}">
                <a16:creationId xmlns:a16="http://schemas.microsoft.com/office/drawing/2014/main" id="{14070B0E-03DB-7ACC-E3F1-D57DDD0498E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12772" y="4624520"/>
            <a:ext cx="383228" cy="160849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uction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2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" grpId="0"/>
      <p:bldP spid="30" grpId="0"/>
      <p:bldP spid="3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8" name="表格 37">
            <a:extLst>
              <a:ext uri="{FF2B5EF4-FFF2-40B4-BE49-F238E27FC236}">
                <a16:creationId xmlns:a16="http://schemas.microsoft.com/office/drawing/2014/main" id="{F10D734E-C75A-0955-354D-62F1D2761F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69243969"/>
              </p:ext>
            </p:extLst>
          </p:nvPr>
        </p:nvGraphicFramePr>
        <p:xfrm>
          <a:off x="2973177" y="2664263"/>
          <a:ext cx="3429000" cy="3810000"/>
        </p:xfrm>
        <a:graphic>
          <a:graphicData uri="http://schemas.openxmlformats.org/drawingml/2006/table">
            <a:tbl>
              <a:tblPr/>
              <a:tblGrid>
                <a:gridCol w="381000">
                  <a:extLst>
                    <a:ext uri="{9D8B030D-6E8A-4147-A177-3AD203B41FA5}">
                      <a16:colId xmlns:a16="http://schemas.microsoft.com/office/drawing/2014/main" val="3596742077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572393080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155025857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3997764154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3570009549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559177390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94842815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87641123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18045952"/>
                    </a:ext>
                  </a:extLst>
                </a:gridCol>
              </a:tblGrid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9158105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5466954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40368739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3617949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02132782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44316663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951214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72686082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1620409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09888721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8221421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43649553"/>
                  </a:ext>
                </a:extLst>
              </a:tr>
            </a:tbl>
          </a:graphicData>
        </a:graphic>
      </p:graphicFrame>
      <p:pic>
        <p:nvPicPr>
          <p:cNvPr id="15" name="图片 14" descr="图片包含 游戏机, 钟表, 仪表&#10;&#10;描述已自动生成"/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304" t="40998"/>
          <a:stretch>
            <a:fillRect/>
          </a:stretch>
        </p:blipFill>
        <p:spPr>
          <a:xfrm>
            <a:off x="10487025" y="5543346"/>
            <a:ext cx="2242643" cy="1314653"/>
          </a:xfrm>
          <a:custGeom>
            <a:avLst/>
            <a:gdLst>
              <a:gd name="connsiteX0" fmla="*/ 0 w 4419600"/>
              <a:gd name="connsiteY0" fmla="*/ 0 h 2590800"/>
              <a:gd name="connsiteX1" fmla="*/ 4419600 w 4419600"/>
              <a:gd name="connsiteY1" fmla="*/ 0 h 2590800"/>
              <a:gd name="connsiteX2" fmla="*/ 4419600 w 4419600"/>
              <a:gd name="connsiteY2" fmla="*/ 2590800 h 2590800"/>
              <a:gd name="connsiteX3" fmla="*/ 0 w 4419600"/>
              <a:gd name="connsiteY3" fmla="*/ 2590800 h 2590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19600" h="2590800">
                <a:moveTo>
                  <a:pt x="0" y="0"/>
                </a:moveTo>
                <a:lnTo>
                  <a:pt x="4419600" y="0"/>
                </a:lnTo>
                <a:lnTo>
                  <a:pt x="4419600" y="2590800"/>
                </a:lnTo>
                <a:lnTo>
                  <a:pt x="0" y="2590800"/>
                </a:lnTo>
                <a:close/>
              </a:path>
            </a:pathLst>
          </a:custGeom>
        </p:spPr>
      </p:pic>
      <p:pic>
        <p:nvPicPr>
          <p:cNvPr id="10" name="图片 9" descr="图片包含 游戏机, 钟表, 仪表&#10;&#10;描述已自动生成"/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751" r="62477" b="55965"/>
          <a:stretch>
            <a:fillRect/>
          </a:stretch>
        </p:blipFill>
        <p:spPr>
          <a:xfrm>
            <a:off x="-152400" y="-171450"/>
            <a:ext cx="1829926" cy="1485900"/>
          </a:xfrm>
          <a:custGeom>
            <a:avLst/>
            <a:gdLst>
              <a:gd name="connsiteX0" fmla="*/ 0 w 2381250"/>
              <a:gd name="connsiteY0" fmla="*/ 0 h 1933575"/>
              <a:gd name="connsiteX1" fmla="*/ 2381250 w 2381250"/>
              <a:gd name="connsiteY1" fmla="*/ 0 h 1933575"/>
              <a:gd name="connsiteX2" fmla="*/ 2381250 w 2381250"/>
              <a:gd name="connsiteY2" fmla="*/ 1933575 h 1933575"/>
              <a:gd name="connsiteX3" fmla="*/ 0 w 2381250"/>
              <a:gd name="connsiteY3" fmla="*/ 1933575 h 19335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81250" h="1933575">
                <a:moveTo>
                  <a:pt x="0" y="0"/>
                </a:moveTo>
                <a:lnTo>
                  <a:pt x="2381250" y="0"/>
                </a:lnTo>
                <a:lnTo>
                  <a:pt x="2381250" y="1933575"/>
                </a:lnTo>
                <a:lnTo>
                  <a:pt x="0" y="1933575"/>
                </a:lnTo>
                <a:close/>
              </a:path>
            </a:pathLst>
          </a:custGeom>
        </p:spPr>
      </p:pic>
      <p:pic>
        <p:nvPicPr>
          <p:cNvPr id="14" name="图片 13" descr="图片包含 游戏机, 钟表, 仪表&#10;&#10;描述已自动生成"/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641"/>
          <a:stretch>
            <a:fillRect/>
          </a:stretch>
        </p:blipFill>
        <p:spPr>
          <a:xfrm>
            <a:off x="-228600" y="4629857"/>
            <a:ext cx="2099855" cy="2228143"/>
          </a:xfrm>
          <a:custGeom>
            <a:avLst/>
            <a:gdLst>
              <a:gd name="connsiteX0" fmla="*/ 0 w 4138206"/>
              <a:gd name="connsiteY0" fmla="*/ 0 h 4391025"/>
              <a:gd name="connsiteX1" fmla="*/ 4138206 w 4138206"/>
              <a:gd name="connsiteY1" fmla="*/ 0 h 4391025"/>
              <a:gd name="connsiteX2" fmla="*/ 4138206 w 4138206"/>
              <a:gd name="connsiteY2" fmla="*/ 128587 h 4391025"/>
              <a:gd name="connsiteX3" fmla="*/ 2052230 w 4138206"/>
              <a:gd name="connsiteY3" fmla="*/ 128587 h 4391025"/>
              <a:gd name="connsiteX4" fmla="*/ 2052230 w 4138206"/>
              <a:gd name="connsiteY4" fmla="*/ 2081212 h 4391025"/>
              <a:gd name="connsiteX5" fmla="*/ 4138206 w 4138206"/>
              <a:gd name="connsiteY5" fmla="*/ 2081212 h 4391025"/>
              <a:gd name="connsiteX6" fmla="*/ 4138206 w 4138206"/>
              <a:gd name="connsiteY6" fmla="*/ 4391025 h 4391025"/>
              <a:gd name="connsiteX7" fmla="*/ 0 w 4138206"/>
              <a:gd name="connsiteY7" fmla="*/ 4391025 h 4391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138206" h="4391025">
                <a:moveTo>
                  <a:pt x="0" y="0"/>
                </a:moveTo>
                <a:lnTo>
                  <a:pt x="4138206" y="0"/>
                </a:lnTo>
                <a:lnTo>
                  <a:pt x="4138206" y="128587"/>
                </a:lnTo>
                <a:lnTo>
                  <a:pt x="2052230" y="128587"/>
                </a:lnTo>
                <a:lnTo>
                  <a:pt x="2052230" y="2081212"/>
                </a:lnTo>
                <a:lnTo>
                  <a:pt x="4138206" y="2081212"/>
                </a:lnTo>
                <a:lnTo>
                  <a:pt x="4138206" y="4391025"/>
                </a:lnTo>
                <a:lnTo>
                  <a:pt x="0" y="4391025"/>
                </a:lnTo>
                <a:close/>
              </a:path>
            </a:pathLst>
          </a:custGeom>
        </p:spPr>
      </p:pic>
      <p:cxnSp>
        <p:nvCxnSpPr>
          <p:cNvPr id="13" name="直接连接符 12"/>
          <p:cNvCxnSpPr/>
          <p:nvPr/>
        </p:nvCxnSpPr>
        <p:spPr>
          <a:prstGeom prst="lin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8" name="文本框 7"/>
          <p:cNvSpPr txBox="1"/>
          <p:nvPr/>
        </p:nvSpPr>
        <p:spPr>
          <a:xfrm>
            <a:off x="6718309" y="6301686"/>
            <a:ext cx="56769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b="1" dirty="0">
                <a:latin typeface="楷体" panose="02010609060101010101" pitchFamily="49" charset="-122"/>
                <a:ea typeface="楷体" panose="02010609060101010101" pitchFamily="49" charset="-122"/>
              </a:rPr>
              <a:t>次数</a:t>
            </a:r>
          </a:p>
        </p:txBody>
      </p:sp>
      <p:sp>
        <p:nvSpPr>
          <p:cNvPr id="9" name="文本框 8"/>
          <p:cNvSpPr txBox="1"/>
          <p:nvPr/>
        </p:nvSpPr>
        <p:spPr>
          <a:xfrm>
            <a:off x="7130716" y="2205375"/>
            <a:ext cx="115189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b="1" dirty="0">
                <a:latin typeface="楷体" panose="02010609060101010101" pitchFamily="49" charset="-122"/>
                <a:ea typeface="楷体" panose="02010609060101010101" pitchFamily="49" charset="-122"/>
              </a:rPr>
              <a:t>数量（个）</a:t>
            </a:r>
          </a:p>
        </p:txBody>
      </p:sp>
      <p:cxnSp>
        <p:nvCxnSpPr>
          <p:cNvPr id="11" name="直接箭头连接符 50"/>
          <p:cNvCxnSpPr>
            <a:cxnSpLocks/>
          </p:cNvCxnSpPr>
          <p:nvPr/>
        </p:nvCxnSpPr>
        <p:spPr>
          <a:xfrm flipV="1">
            <a:off x="2973079" y="2335619"/>
            <a:ext cx="0" cy="414640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2" name="直接箭头连接符 51"/>
          <p:cNvCxnSpPr/>
          <p:nvPr/>
        </p:nvCxnSpPr>
        <p:spPr>
          <a:xfrm flipV="1">
            <a:off x="2981969" y="6469926"/>
            <a:ext cx="3736340" cy="1464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6" name="文本框 15"/>
          <p:cNvSpPr txBox="1"/>
          <p:nvPr/>
        </p:nvSpPr>
        <p:spPr>
          <a:xfrm>
            <a:off x="2746817" y="6343015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0</a:t>
            </a:r>
          </a:p>
        </p:txBody>
      </p:sp>
      <p:sp>
        <p:nvSpPr>
          <p:cNvPr id="17" name="文本框 16"/>
          <p:cNvSpPr txBox="1"/>
          <p:nvPr/>
        </p:nvSpPr>
        <p:spPr>
          <a:xfrm>
            <a:off x="2736224" y="5997179"/>
            <a:ext cx="480695" cy="3162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1</a:t>
            </a:r>
          </a:p>
        </p:txBody>
      </p:sp>
      <p:sp>
        <p:nvSpPr>
          <p:cNvPr id="18" name="文本框 17"/>
          <p:cNvSpPr txBox="1"/>
          <p:nvPr/>
        </p:nvSpPr>
        <p:spPr>
          <a:xfrm>
            <a:off x="2733049" y="5661850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2</a:t>
            </a:r>
          </a:p>
        </p:txBody>
      </p:sp>
      <p:sp>
        <p:nvSpPr>
          <p:cNvPr id="19" name="文本框 18"/>
          <p:cNvSpPr txBox="1"/>
          <p:nvPr/>
        </p:nvSpPr>
        <p:spPr>
          <a:xfrm>
            <a:off x="2733684" y="5344887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3</a:t>
            </a:r>
          </a:p>
        </p:txBody>
      </p:sp>
      <p:sp>
        <p:nvSpPr>
          <p:cNvPr id="20" name="文本框 19"/>
          <p:cNvSpPr txBox="1"/>
          <p:nvPr/>
        </p:nvSpPr>
        <p:spPr>
          <a:xfrm>
            <a:off x="2731144" y="5029829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4</a:t>
            </a:r>
          </a:p>
        </p:txBody>
      </p:sp>
      <p:sp>
        <p:nvSpPr>
          <p:cNvPr id="21" name="文本框 20"/>
          <p:cNvSpPr txBox="1"/>
          <p:nvPr/>
        </p:nvSpPr>
        <p:spPr>
          <a:xfrm>
            <a:off x="2726064" y="4728106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5</a:t>
            </a:r>
          </a:p>
        </p:txBody>
      </p:sp>
      <p:sp>
        <p:nvSpPr>
          <p:cNvPr id="22" name="文本框 21"/>
          <p:cNvSpPr txBox="1"/>
          <p:nvPr/>
        </p:nvSpPr>
        <p:spPr>
          <a:xfrm>
            <a:off x="2723524" y="4416760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6</a:t>
            </a:r>
          </a:p>
        </p:txBody>
      </p:sp>
      <p:sp>
        <p:nvSpPr>
          <p:cNvPr id="23" name="文本框 22"/>
          <p:cNvSpPr txBox="1"/>
          <p:nvPr/>
        </p:nvSpPr>
        <p:spPr>
          <a:xfrm>
            <a:off x="2731779" y="4111862"/>
            <a:ext cx="480695" cy="3359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7</a:t>
            </a:r>
          </a:p>
        </p:txBody>
      </p:sp>
      <p:sp>
        <p:nvSpPr>
          <p:cNvPr id="24" name="文本框 23"/>
          <p:cNvSpPr txBox="1"/>
          <p:nvPr/>
        </p:nvSpPr>
        <p:spPr>
          <a:xfrm>
            <a:off x="2729239" y="3772137"/>
            <a:ext cx="46482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8</a:t>
            </a:r>
          </a:p>
        </p:txBody>
      </p:sp>
      <p:sp>
        <p:nvSpPr>
          <p:cNvPr id="25" name="文本框 24"/>
          <p:cNvSpPr txBox="1"/>
          <p:nvPr/>
        </p:nvSpPr>
        <p:spPr>
          <a:xfrm>
            <a:off x="2733684" y="3441888"/>
            <a:ext cx="47053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9</a:t>
            </a:r>
          </a:p>
        </p:txBody>
      </p:sp>
      <p:sp>
        <p:nvSpPr>
          <p:cNvPr id="26" name="文本框 25"/>
          <p:cNvSpPr txBox="1"/>
          <p:nvPr/>
        </p:nvSpPr>
        <p:spPr>
          <a:xfrm>
            <a:off x="2654944" y="3153451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10</a:t>
            </a:r>
          </a:p>
        </p:txBody>
      </p:sp>
      <p:sp>
        <p:nvSpPr>
          <p:cNvPr id="27" name="文本框 26"/>
          <p:cNvSpPr txBox="1"/>
          <p:nvPr/>
        </p:nvSpPr>
        <p:spPr>
          <a:xfrm>
            <a:off x="3391593" y="3563335"/>
            <a:ext cx="371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楷体" panose="02010609060101010101" pitchFamily="49" charset="-122"/>
                <a:ea typeface="楷体" panose="02010609060101010101" pitchFamily="49" charset="-122"/>
              </a:rPr>
              <a:t>8</a:t>
            </a:r>
          </a:p>
        </p:txBody>
      </p:sp>
      <p:sp>
        <p:nvSpPr>
          <p:cNvPr id="28" name="文本框 27"/>
          <p:cNvSpPr txBox="1"/>
          <p:nvPr/>
        </p:nvSpPr>
        <p:spPr>
          <a:xfrm>
            <a:off x="4154492" y="3240455"/>
            <a:ext cx="371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楷体" panose="02010609060101010101" pitchFamily="49" charset="-122"/>
                <a:ea typeface="楷体" panose="02010609060101010101" pitchFamily="49" charset="-122"/>
              </a:rPr>
              <a:t>9</a:t>
            </a:r>
          </a:p>
        </p:txBody>
      </p:sp>
      <p:sp>
        <p:nvSpPr>
          <p:cNvPr id="29" name="文本框 28"/>
          <p:cNvSpPr txBox="1"/>
          <p:nvPr/>
        </p:nvSpPr>
        <p:spPr>
          <a:xfrm>
            <a:off x="4923922" y="3878368"/>
            <a:ext cx="371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楷体" panose="02010609060101010101" pitchFamily="49" charset="-122"/>
                <a:ea typeface="楷体" panose="02010609060101010101" pitchFamily="49" charset="-122"/>
              </a:rPr>
              <a:t>7</a:t>
            </a:r>
          </a:p>
        </p:txBody>
      </p:sp>
      <p:sp>
        <p:nvSpPr>
          <p:cNvPr id="30" name="文本框 29"/>
          <p:cNvSpPr txBox="1"/>
          <p:nvPr/>
        </p:nvSpPr>
        <p:spPr>
          <a:xfrm>
            <a:off x="5610907" y="2291281"/>
            <a:ext cx="5221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楷体" panose="02010609060101010101" pitchFamily="49" charset="-122"/>
                <a:ea typeface="楷体" panose="02010609060101010101" pitchFamily="49" charset="-122"/>
              </a:rPr>
              <a:t>12</a:t>
            </a:r>
          </a:p>
        </p:txBody>
      </p:sp>
      <p:sp>
        <p:nvSpPr>
          <p:cNvPr id="44" name="文本框 43"/>
          <p:cNvSpPr txBox="1"/>
          <p:nvPr/>
        </p:nvSpPr>
        <p:spPr>
          <a:xfrm>
            <a:off x="5685633" y="4230568"/>
            <a:ext cx="371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楷体" panose="02010609060101010101" pitchFamily="49" charset="-122"/>
                <a:ea typeface="楷体" panose="02010609060101010101" pitchFamily="49" charset="-122"/>
              </a:rPr>
              <a:t>6</a:t>
            </a:r>
          </a:p>
        </p:txBody>
      </p:sp>
      <p:graphicFrame>
        <p:nvGraphicFramePr>
          <p:cNvPr id="4" name="表格 3"/>
          <p:cNvGraphicFramePr/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176639451"/>
              </p:ext>
            </p:extLst>
          </p:nvPr>
        </p:nvGraphicFramePr>
        <p:xfrm>
          <a:off x="1871255" y="255270"/>
          <a:ext cx="7743825" cy="1828800"/>
        </p:xfrm>
        <a:graphic>
          <a:graphicData uri="http://schemas.openxmlformats.org/drawingml/2006/table">
            <a:tbl>
              <a:tblPr firstCol="1" bandCol="1">
                <a:tableStyleId>{B336826C-F471-4F4D-A487-091D767684D0}</a:tableStyleId>
              </a:tblPr>
              <a:tblGrid>
                <a:gridCol w="12655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55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655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655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6555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160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3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 dirty="0"/>
                        <a:t>姓名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第</a:t>
                      </a:r>
                      <a:r>
                        <a:rPr lang="en-US" altLang="zh-CN" sz="2400"/>
                        <a:t>1</a:t>
                      </a:r>
                      <a:r>
                        <a:rPr lang="zh-CN" altLang="en-US" sz="2400"/>
                        <a:t>次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第</a:t>
                      </a:r>
                      <a:r>
                        <a:rPr lang="en-US" altLang="zh-CN" sz="2400"/>
                        <a:t>2</a:t>
                      </a:r>
                      <a:r>
                        <a:rPr lang="zh-CN" altLang="en-US" sz="2400"/>
                        <a:t>次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第</a:t>
                      </a:r>
                      <a:r>
                        <a:rPr lang="en-US" altLang="zh-CN" sz="2400"/>
                        <a:t>3</a:t>
                      </a:r>
                      <a:r>
                        <a:rPr lang="zh-CN" altLang="en-US" sz="2400"/>
                        <a:t>次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第四次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最终成绩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小欣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小红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 dirty="0"/>
                        <a:t>小兰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zh-CN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2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" name="文本框 2"/>
          <p:cNvSpPr txBox="1"/>
          <p:nvPr/>
        </p:nvSpPr>
        <p:spPr>
          <a:xfrm>
            <a:off x="8299450" y="2682240"/>
            <a:ext cx="3142615" cy="396748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dirty="0"/>
              <a:t>先出现一条前</a:t>
            </a:r>
            <a:r>
              <a:rPr lang="en-US" altLang="zh-CN" dirty="0"/>
              <a:t>3</a:t>
            </a:r>
            <a:r>
              <a:rPr lang="zh-CN" altLang="en-US" dirty="0"/>
              <a:t>次平均成绩线</a:t>
            </a:r>
            <a:r>
              <a:rPr lang="en-US" altLang="zh-CN" dirty="0"/>
              <a:t>8</a:t>
            </a:r>
            <a:r>
              <a:rPr lang="zh-CN" altLang="en-US" dirty="0"/>
              <a:t>分，再出现第</a:t>
            </a:r>
            <a:r>
              <a:rPr lang="en-US" altLang="zh-CN" dirty="0"/>
              <a:t>4</a:t>
            </a:r>
            <a:r>
              <a:rPr lang="zh-CN" altLang="en-US" dirty="0"/>
              <a:t>次的成绩</a:t>
            </a:r>
            <a:r>
              <a:rPr lang="en-US" altLang="zh-CN" dirty="0"/>
              <a:t>12</a:t>
            </a:r>
            <a:r>
              <a:rPr lang="zh-CN" altLang="en-US" dirty="0"/>
              <a:t>，然后第一条</a:t>
            </a:r>
            <a:r>
              <a:rPr lang="en-US" altLang="zh-CN" dirty="0"/>
              <a:t>8</a:t>
            </a:r>
            <a:r>
              <a:rPr lang="zh-CN" altLang="en-US" dirty="0"/>
              <a:t>分的平均线消失，出现</a:t>
            </a:r>
            <a:r>
              <a:rPr lang="en-US" altLang="zh-CN" dirty="0"/>
              <a:t>9</a:t>
            </a:r>
            <a:r>
              <a:rPr lang="zh-CN" altLang="en-US" dirty="0"/>
              <a:t>分的平均线，然后第四次成绩及平均分数线消失，平均线</a:t>
            </a:r>
            <a:r>
              <a:rPr lang="en-US" altLang="zh-CN" dirty="0"/>
              <a:t>8</a:t>
            </a:r>
            <a:r>
              <a:rPr lang="zh-CN" altLang="en-US" dirty="0"/>
              <a:t>继续出现，第四次成绩换成</a:t>
            </a:r>
            <a:r>
              <a:rPr lang="en-US" altLang="zh-CN" dirty="0"/>
              <a:t>4</a:t>
            </a:r>
            <a:r>
              <a:rPr lang="zh-CN" altLang="en-US" dirty="0"/>
              <a:t>分，然后平均线</a:t>
            </a:r>
            <a:r>
              <a:rPr lang="en-US" altLang="zh-CN" dirty="0"/>
              <a:t>8</a:t>
            </a:r>
            <a:r>
              <a:rPr lang="zh-CN" altLang="en-US" dirty="0"/>
              <a:t>消失，然后再出现平均分</a:t>
            </a:r>
            <a:r>
              <a:rPr lang="en-US" altLang="zh-CN" dirty="0"/>
              <a:t>7</a:t>
            </a:r>
            <a:r>
              <a:rPr lang="zh-CN" altLang="en-US" dirty="0"/>
              <a:t>分，然后消失，然后再出现平均线</a:t>
            </a:r>
            <a:r>
              <a:rPr lang="en-US" altLang="zh-CN" dirty="0"/>
              <a:t>8</a:t>
            </a:r>
            <a:r>
              <a:rPr lang="zh-CN" altLang="en-US" dirty="0"/>
              <a:t>分，最后出现第</a:t>
            </a:r>
            <a:r>
              <a:rPr lang="en-US" altLang="zh-CN" dirty="0"/>
              <a:t>4</a:t>
            </a:r>
            <a:r>
              <a:rPr lang="zh-CN" altLang="en-US" dirty="0"/>
              <a:t>次成绩</a:t>
            </a:r>
            <a:r>
              <a:rPr lang="en-US" altLang="zh-CN" dirty="0"/>
              <a:t>8</a:t>
            </a:r>
            <a:r>
              <a:rPr lang="zh-CN" altLang="en-US" dirty="0"/>
              <a:t>，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C9F78CC-EC95-EDAA-22DC-2182B6C3946E}"/>
              </a:ext>
            </a:extLst>
          </p:cNvPr>
          <p:cNvSpPr txBox="1"/>
          <p:nvPr/>
        </p:nvSpPr>
        <p:spPr>
          <a:xfrm>
            <a:off x="2659060" y="2811574"/>
            <a:ext cx="4806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11</a:t>
            </a: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12A30B00-19FD-17DE-1B29-4E61E46782D3}"/>
              </a:ext>
            </a:extLst>
          </p:cNvPr>
          <p:cNvSpPr txBox="1"/>
          <p:nvPr/>
        </p:nvSpPr>
        <p:spPr>
          <a:xfrm>
            <a:off x="2663177" y="2469701"/>
            <a:ext cx="4806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12</a:t>
            </a:r>
          </a:p>
        </p:txBody>
      </p:sp>
      <p:pic>
        <p:nvPicPr>
          <p:cNvPr id="39" name="图片 38">
            <a:extLst>
              <a:ext uri="{FF2B5EF4-FFF2-40B4-BE49-F238E27FC236}">
                <a16:creationId xmlns:a16="http://schemas.microsoft.com/office/drawing/2014/main" id="{E37F497E-87D8-ED29-4BDA-35231884E4F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48681" y="3929630"/>
            <a:ext cx="395416" cy="2552395"/>
          </a:xfrm>
          <a:prstGeom prst="rect">
            <a:avLst/>
          </a:prstGeom>
        </p:spPr>
      </p:pic>
      <p:pic>
        <p:nvPicPr>
          <p:cNvPr id="40" name="图片 39">
            <a:extLst>
              <a:ext uri="{FF2B5EF4-FFF2-40B4-BE49-F238E27FC236}">
                <a16:creationId xmlns:a16="http://schemas.microsoft.com/office/drawing/2014/main" id="{5EFFC4A8-2DCC-7528-B0E0-D0926785F4B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05821" y="3620090"/>
            <a:ext cx="395416" cy="2861935"/>
          </a:xfrm>
          <a:prstGeom prst="rect">
            <a:avLst/>
          </a:prstGeom>
        </p:spPr>
      </p:pic>
      <p:pic>
        <p:nvPicPr>
          <p:cNvPr id="48" name="图片 47">
            <a:extLst>
              <a:ext uri="{FF2B5EF4-FFF2-40B4-BE49-F238E27FC236}">
                <a16:creationId xmlns:a16="http://schemas.microsoft.com/office/drawing/2014/main" id="{957241CC-4944-5A71-70EA-DD69157C5EA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77461" y="4250242"/>
            <a:ext cx="395416" cy="2231782"/>
          </a:xfrm>
          <a:prstGeom prst="rect">
            <a:avLst/>
          </a:prstGeom>
        </p:spPr>
      </p:pic>
      <p:pic>
        <p:nvPicPr>
          <p:cNvPr id="58" name="图片 57">
            <a:extLst>
              <a:ext uri="{FF2B5EF4-FFF2-40B4-BE49-F238E27FC236}">
                <a16:creationId xmlns:a16="http://schemas.microsoft.com/office/drawing/2014/main" id="{2290DBAA-BF8D-97D3-D4E6-07441200409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35289" y="2633116"/>
            <a:ext cx="395416" cy="3820918"/>
          </a:xfrm>
          <a:prstGeom prst="rect">
            <a:avLst/>
          </a:prstGeom>
        </p:spPr>
      </p:pic>
      <p:grpSp>
        <p:nvGrpSpPr>
          <p:cNvPr id="49" name="组合 48">
            <a:extLst>
              <a:ext uri="{FF2B5EF4-FFF2-40B4-BE49-F238E27FC236}">
                <a16:creationId xmlns:a16="http://schemas.microsoft.com/office/drawing/2014/main" id="{2B967DB1-88A6-98C5-D269-F58ED6572543}"/>
              </a:ext>
            </a:extLst>
          </p:cNvPr>
          <p:cNvGrpSpPr/>
          <p:nvPr/>
        </p:nvGrpSpPr>
        <p:grpSpPr>
          <a:xfrm>
            <a:off x="2976571" y="3666783"/>
            <a:ext cx="5432425" cy="521970"/>
            <a:chOff x="7193" y="3503"/>
            <a:chExt cx="8122" cy="822"/>
          </a:xfrm>
        </p:grpSpPr>
        <p:cxnSp>
          <p:nvCxnSpPr>
            <p:cNvPr id="50" name="直接连接符 12">
              <a:extLst>
                <a:ext uri="{FF2B5EF4-FFF2-40B4-BE49-F238E27FC236}">
                  <a16:creationId xmlns:a16="http://schemas.microsoft.com/office/drawing/2014/main" id="{429FD07B-CADE-97D6-F96C-934A7D460A0E}"/>
                </a:ext>
              </a:extLst>
            </p:cNvPr>
            <p:cNvCxnSpPr>
              <a:endCxn id="57" idx="1"/>
            </p:cNvCxnSpPr>
            <p:nvPr/>
          </p:nvCxnSpPr>
          <p:spPr>
            <a:xfrm flipV="1">
              <a:off x="7193" y="3914"/>
              <a:ext cx="5568" cy="1"/>
            </a:xfrm>
            <a:prstGeom prst="line">
              <a:avLst/>
            </a:prstGeom>
            <a:ln w="57150">
              <a:solidFill>
                <a:srgbClr val="FF000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文本框 56">
              <a:extLst>
                <a:ext uri="{FF2B5EF4-FFF2-40B4-BE49-F238E27FC236}">
                  <a16:creationId xmlns:a16="http://schemas.microsoft.com/office/drawing/2014/main" id="{1F539400-0F3F-53D4-706C-FA15B81A47B7}"/>
                </a:ext>
              </a:extLst>
            </p:cNvPr>
            <p:cNvSpPr txBox="1"/>
            <p:nvPr/>
          </p:nvSpPr>
          <p:spPr>
            <a:xfrm>
              <a:off x="12761" y="3503"/>
              <a:ext cx="2554" cy="8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800" dirty="0">
                  <a:ln w="0"/>
                  <a:solidFill>
                    <a:srgbClr val="FF0000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楷体" panose="02010609060101010101" pitchFamily="49" charset="-122"/>
                  <a:ea typeface="楷体" panose="02010609060101010101" pitchFamily="49" charset="-122"/>
                  <a:cs typeface="楷体" panose="02010609060101010101" pitchFamily="49" charset="-122"/>
                </a:rPr>
                <a:t>平均数</a:t>
              </a:r>
              <a:r>
                <a:rPr lang="en-US" altLang="zh-CN" sz="2800" dirty="0">
                  <a:ln w="0"/>
                  <a:solidFill>
                    <a:srgbClr val="FF0000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楷体" panose="02010609060101010101" pitchFamily="49" charset="-122"/>
                  <a:ea typeface="楷体" panose="02010609060101010101" pitchFamily="49" charset="-122"/>
                  <a:cs typeface="楷体" panose="02010609060101010101" pitchFamily="49" charset="-122"/>
                </a:rPr>
                <a:t>8 </a:t>
              </a:r>
              <a:endParaRPr lang="zh-CN" altLang="en-US" sz="2800" dirty="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endParaRPr>
            </a:p>
          </p:txBody>
        </p:sp>
      </p:grpSp>
      <p:grpSp>
        <p:nvGrpSpPr>
          <p:cNvPr id="62" name="组合 61">
            <a:extLst>
              <a:ext uri="{FF2B5EF4-FFF2-40B4-BE49-F238E27FC236}">
                <a16:creationId xmlns:a16="http://schemas.microsoft.com/office/drawing/2014/main" id="{416D32A3-E91E-6645-1E61-AA99042C3C9B}"/>
              </a:ext>
            </a:extLst>
          </p:cNvPr>
          <p:cNvGrpSpPr/>
          <p:nvPr/>
        </p:nvGrpSpPr>
        <p:grpSpPr>
          <a:xfrm>
            <a:off x="2968951" y="3348802"/>
            <a:ext cx="5432425" cy="521970"/>
            <a:chOff x="7193" y="3503"/>
            <a:chExt cx="8122" cy="822"/>
          </a:xfrm>
        </p:grpSpPr>
        <p:cxnSp>
          <p:nvCxnSpPr>
            <p:cNvPr id="63" name="直接连接符 12">
              <a:extLst>
                <a:ext uri="{FF2B5EF4-FFF2-40B4-BE49-F238E27FC236}">
                  <a16:creationId xmlns:a16="http://schemas.microsoft.com/office/drawing/2014/main" id="{80110F12-A596-3ECD-F631-0D40CE439141}"/>
                </a:ext>
              </a:extLst>
            </p:cNvPr>
            <p:cNvCxnSpPr>
              <a:endCxn id="64" idx="1"/>
            </p:cNvCxnSpPr>
            <p:nvPr/>
          </p:nvCxnSpPr>
          <p:spPr>
            <a:xfrm flipV="1">
              <a:off x="7193" y="3914"/>
              <a:ext cx="5568" cy="1"/>
            </a:xfrm>
            <a:prstGeom prst="line">
              <a:avLst/>
            </a:prstGeom>
            <a:ln w="57150">
              <a:solidFill>
                <a:srgbClr val="FF000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文本框 63">
              <a:extLst>
                <a:ext uri="{FF2B5EF4-FFF2-40B4-BE49-F238E27FC236}">
                  <a16:creationId xmlns:a16="http://schemas.microsoft.com/office/drawing/2014/main" id="{996484AE-0C68-6FB0-2860-6165F077FBCE}"/>
                </a:ext>
              </a:extLst>
            </p:cNvPr>
            <p:cNvSpPr txBox="1"/>
            <p:nvPr/>
          </p:nvSpPr>
          <p:spPr>
            <a:xfrm>
              <a:off x="12761" y="3503"/>
              <a:ext cx="2554" cy="8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800" dirty="0">
                  <a:ln w="0"/>
                  <a:solidFill>
                    <a:srgbClr val="FF0000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楷体" panose="02010609060101010101" pitchFamily="49" charset="-122"/>
                  <a:ea typeface="楷体" panose="02010609060101010101" pitchFamily="49" charset="-122"/>
                  <a:cs typeface="楷体" panose="02010609060101010101" pitchFamily="49" charset="-122"/>
                </a:rPr>
                <a:t>平均数</a:t>
              </a:r>
              <a:r>
                <a:rPr lang="en-US" altLang="zh-CN" sz="2800" dirty="0">
                  <a:ln w="0"/>
                  <a:solidFill>
                    <a:srgbClr val="FF0000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楷体" panose="02010609060101010101" pitchFamily="49" charset="-122"/>
                  <a:ea typeface="楷体" panose="02010609060101010101" pitchFamily="49" charset="-122"/>
                  <a:cs typeface="楷体" panose="02010609060101010101" pitchFamily="49" charset="-122"/>
                </a:rPr>
                <a:t>9 </a:t>
              </a:r>
              <a:endParaRPr lang="zh-CN" altLang="en-US" sz="2800" dirty="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endParaRPr>
            </a:p>
          </p:txBody>
        </p:sp>
      </p:grpSp>
      <p:grpSp>
        <p:nvGrpSpPr>
          <p:cNvPr id="65" name="组合 64">
            <a:extLst>
              <a:ext uri="{FF2B5EF4-FFF2-40B4-BE49-F238E27FC236}">
                <a16:creationId xmlns:a16="http://schemas.microsoft.com/office/drawing/2014/main" id="{8B760A35-FFFF-0229-2035-45EC7B2D2E5D}"/>
              </a:ext>
            </a:extLst>
          </p:cNvPr>
          <p:cNvGrpSpPr/>
          <p:nvPr/>
        </p:nvGrpSpPr>
        <p:grpSpPr>
          <a:xfrm>
            <a:off x="2976571" y="3662321"/>
            <a:ext cx="5432425" cy="521970"/>
            <a:chOff x="7193" y="3503"/>
            <a:chExt cx="8122" cy="822"/>
          </a:xfrm>
        </p:grpSpPr>
        <p:cxnSp>
          <p:nvCxnSpPr>
            <p:cNvPr id="66" name="直接连接符 12">
              <a:extLst>
                <a:ext uri="{FF2B5EF4-FFF2-40B4-BE49-F238E27FC236}">
                  <a16:creationId xmlns:a16="http://schemas.microsoft.com/office/drawing/2014/main" id="{95932B02-8A8E-8688-FF17-080E8D66709C}"/>
                </a:ext>
              </a:extLst>
            </p:cNvPr>
            <p:cNvCxnSpPr>
              <a:endCxn id="67" idx="1"/>
            </p:cNvCxnSpPr>
            <p:nvPr/>
          </p:nvCxnSpPr>
          <p:spPr>
            <a:xfrm flipV="1">
              <a:off x="7193" y="3914"/>
              <a:ext cx="5568" cy="1"/>
            </a:xfrm>
            <a:prstGeom prst="line">
              <a:avLst/>
            </a:prstGeom>
            <a:ln w="57150">
              <a:solidFill>
                <a:srgbClr val="FF000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7" name="文本框 66">
              <a:extLst>
                <a:ext uri="{FF2B5EF4-FFF2-40B4-BE49-F238E27FC236}">
                  <a16:creationId xmlns:a16="http://schemas.microsoft.com/office/drawing/2014/main" id="{BF9271DE-D6A9-F9BA-9397-30B708FEEA51}"/>
                </a:ext>
              </a:extLst>
            </p:cNvPr>
            <p:cNvSpPr txBox="1"/>
            <p:nvPr/>
          </p:nvSpPr>
          <p:spPr>
            <a:xfrm>
              <a:off x="12761" y="3503"/>
              <a:ext cx="2554" cy="8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800" dirty="0">
                  <a:ln w="0"/>
                  <a:solidFill>
                    <a:srgbClr val="FF0000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楷体" panose="02010609060101010101" pitchFamily="49" charset="-122"/>
                  <a:ea typeface="楷体" panose="02010609060101010101" pitchFamily="49" charset="-122"/>
                  <a:cs typeface="楷体" panose="02010609060101010101" pitchFamily="49" charset="-122"/>
                </a:rPr>
                <a:t>平均数</a:t>
              </a:r>
              <a:r>
                <a:rPr lang="en-US" altLang="zh-CN" sz="2800" dirty="0">
                  <a:ln w="0"/>
                  <a:solidFill>
                    <a:srgbClr val="FF0000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楷体" panose="02010609060101010101" pitchFamily="49" charset="-122"/>
                  <a:ea typeface="楷体" panose="02010609060101010101" pitchFamily="49" charset="-122"/>
                  <a:cs typeface="楷体" panose="02010609060101010101" pitchFamily="49" charset="-122"/>
                </a:rPr>
                <a:t>8 </a:t>
              </a:r>
              <a:endParaRPr lang="zh-CN" altLang="en-US" sz="2800" dirty="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endParaRPr>
            </a:p>
          </p:txBody>
        </p:sp>
      </p:grpSp>
      <p:pic>
        <p:nvPicPr>
          <p:cNvPr id="68" name="图片 67">
            <a:extLst>
              <a:ext uri="{FF2B5EF4-FFF2-40B4-BE49-F238E27FC236}">
                <a16:creationId xmlns:a16="http://schemas.microsoft.com/office/drawing/2014/main" id="{E0386468-8C95-A0AE-77C4-F975E691D3E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38468" y="4555946"/>
            <a:ext cx="395416" cy="1914310"/>
          </a:xfrm>
          <a:prstGeom prst="rect">
            <a:avLst/>
          </a:prstGeom>
        </p:spPr>
      </p:pic>
      <p:grpSp>
        <p:nvGrpSpPr>
          <p:cNvPr id="69" name="组合 68">
            <a:extLst>
              <a:ext uri="{FF2B5EF4-FFF2-40B4-BE49-F238E27FC236}">
                <a16:creationId xmlns:a16="http://schemas.microsoft.com/office/drawing/2014/main" id="{99B2C22F-A4DE-A4B5-60F2-764EAA699198}"/>
              </a:ext>
            </a:extLst>
          </p:cNvPr>
          <p:cNvGrpSpPr/>
          <p:nvPr/>
        </p:nvGrpSpPr>
        <p:grpSpPr>
          <a:xfrm>
            <a:off x="2961649" y="3834572"/>
            <a:ext cx="5568871" cy="523240"/>
            <a:chOff x="7193" y="3503"/>
            <a:chExt cx="8326" cy="824"/>
          </a:xfrm>
        </p:grpSpPr>
        <p:cxnSp>
          <p:nvCxnSpPr>
            <p:cNvPr id="70" name="直接连接符 12">
              <a:extLst>
                <a:ext uri="{FF2B5EF4-FFF2-40B4-BE49-F238E27FC236}">
                  <a16:creationId xmlns:a16="http://schemas.microsoft.com/office/drawing/2014/main" id="{51815107-F288-7602-09B5-1AF16FFA2D46}"/>
                </a:ext>
              </a:extLst>
            </p:cNvPr>
            <p:cNvCxnSpPr>
              <a:cxnSpLocks/>
              <a:endCxn id="71" idx="1"/>
            </p:cNvCxnSpPr>
            <p:nvPr/>
          </p:nvCxnSpPr>
          <p:spPr>
            <a:xfrm>
              <a:off x="7193" y="3915"/>
              <a:ext cx="5568" cy="0"/>
            </a:xfrm>
            <a:prstGeom prst="line">
              <a:avLst/>
            </a:prstGeom>
            <a:ln w="57150">
              <a:solidFill>
                <a:srgbClr val="FF000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1" name="文本框 70">
              <a:extLst>
                <a:ext uri="{FF2B5EF4-FFF2-40B4-BE49-F238E27FC236}">
                  <a16:creationId xmlns:a16="http://schemas.microsoft.com/office/drawing/2014/main" id="{C336A340-501A-B28E-377F-5569EFEBB45A}"/>
                </a:ext>
              </a:extLst>
            </p:cNvPr>
            <p:cNvSpPr txBox="1"/>
            <p:nvPr/>
          </p:nvSpPr>
          <p:spPr>
            <a:xfrm>
              <a:off x="12761" y="3503"/>
              <a:ext cx="2758" cy="8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800" dirty="0">
                  <a:ln w="0"/>
                  <a:solidFill>
                    <a:srgbClr val="FF0000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楷体" panose="02010609060101010101" pitchFamily="49" charset="-122"/>
                  <a:ea typeface="楷体" panose="02010609060101010101" pitchFamily="49" charset="-122"/>
                  <a:cs typeface="楷体" panose="02010609060101010101" pitchFamily="49" charset="-122"/>
                </a:rPr>
                <a:t>平均数</a:t>
              </a:r>
              <a:r>
                <a:rPr lang="en-US" altLang="zh-CN" sz="2800" dirty="0">
                  <a:ln w="0"/>
                  <a:solidFill>
                    <a:srgbClr val="FF0000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楷体" panose="02010609060101010101" pitchFamily="49" charset="-122"/>
                  <a:ea typeface="楷体" panose="02010609060101010101" pitchFamily="49" charset="-122"/>
                  <a:cs typeface="楷体" panose="02010609060101010101" pitchFamily="49" charset="-122"/>
                </a:rPr>
                <a:t>7.5 </a:t>
              </a:r>
              <a:endParaRPr lang="zh-CN" altLang="en-US" sz="2800" dirty="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endParaRPr>
            </a:p>
          </p:txBody>
        </p:sp>
      </p:grpSp>
      <p:sp>
        <p:nvSpPr>
          <p:cNvPr id="75" name="文本框 74">
            <a:extLst>
              <a:ext uri="{FF2B5EF4-FFF2-40B4-BE49-F238E27FC236}">
                <a16:creationId xmlns:a16="http://schemas.microsoft.com/office/drawing/2014/main" id="{B5D4B7DB-7094-68F9-EEE8-B7BB8EEB0412}"/>
              </a:ext>
            </a:extLst>
          </p:cNvPr>
          <p:cNvSpPr txBox="1"/>
          <p:nvPr/>
        </p:nvSpPr>
        <p:spPr>
          <a:xfrm>
            <a:off x="7381553" y="1619430"/>
            <a:ext cx="3465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 dirty="0"/>
              <a:t>8</a:t>
            </a:r>
            <a:endParaRPr kumimoji="1" lang="zh-CN" altLang="en-US" sz="2400" dirty="0"/>
          </a:p>
        </p:txBody>
      </p:sp>
      <p:pic>
        <p:nvPicPr>
          <p:cNvPr id="76" name="图片 75">
            <a:extLst>
              <a:ext uri="{FF2B5EF4-FFF2-40B4-BE49-F238E27FC236}">
                <a16:creationId xmlns:a16="http://schemas.microsoft.com/office/drawing/2014/main" id="{4AB05190-2B23-F2E5-94A6-3FB335078B8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50080" y="3916973"/>
            <a:ext cx="395416" cy="2545190"/>
          </a:xfrm>
          <a:prstGeom prst="rect">
            <a:avLst/>
          </a:prstGeom>
        </p:spPr>
      </p:pic>
      <p:sp>
        <p:nvSpPr>
          <p:cNvPr id="77" name="文本框 76">
            <a:extLst>
              <a:ext uri="{FF2B5EF4-FFF2-40B4-BE49-F238E27FC236}">
                <a16:creationId xmlns:a16="http://schemas.microsoft.com/office/drawing/2014/main" id="{26B109CC-6D9A-6EE7-524C-53B2167B2C82}"/>
              </a:ext>
            </a:extLst>
          </p:cNvPr>
          <p:cNvSpPr txBox="1"/>
          <p:nvPr/>
        </p:nvSpPr>
        <p:spPr>
          <a:xfrm>
            <a:off x="5701028" y="3555239"/>
            <a:ext cx="5221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楷体" panose="02010609060101010101" pitchFamily="49" charset="-122"/>
                <a:ea typeface="楷体" panose="02010609060101010101" pitchFamily="49" charset="-122"/>
              </a:rPr>
              <a:t>8</a:t>
            </a:r>
          </a:p>
        </p:txBody>
      </p:sp>
      <p:sp>
        <p:nvSpPr>
          <p:cNvPr id="78" name="文本框 77">
            <a:extLst>
              <a:ext uri="{FF2B5EF4-FFF2-40B4-BE49-F238E27FC236}">
                <a16:creationId xmlns:a16="http://schemas.microsoft.com/office/drawing/2014/main" id="{6B3AA7A5-CBB0-42E2-8333-42278A486474}"/>
              </a:ext>
            </a:extLst>
          </p:cNvPr>
          <p:cNvSpPr txBox="1"/>
          <p:nvPr/>
        </p:nvSpPr>
        <p:spPr>
          <a:xfrm>
            <a:off x="8720201" y="1623548"/>
            <a:ext cx="3465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 dirty="0"/>
              <a:t>8</a:t>
            </a:r>
            <a:endParaRPr kumimoji="1" lang="zh-CN" altLang="en-US" sz="2400" dirty="0"/>
          </a:p>
        </p:txBody>
      </p:sp>
      <p:grpSp>
        <p:nvGrpSpPr>
          <p:cNvPr id="2" name="组合 1">
            <a:extLst>
              <a:ext uri="{FF2B5EF4-FFF2-40B4-BE49-F238E27FC236}">
                <a16:creationId xmlns:a16="http://schemas.microsoft.com/office/drawing/2014/main" id="{826D542C-9C9D-4BD9-2281-540CD00B84F9}"/>
              </a:ext>
            </a:extLst>
          </p:cNvPr>
          <p:cNvGrpSpPr/>
          <p:nvPr/>
        </p:nvGrpSpPr>
        <p:grpSpPr>
          <a:xfrm>
            <a:off x="2984191" y="3668645"/>
            <a:ext cx="5432425" cy="521970"/>
            <a:chOff x="7193" y="3503"/>
            <a:chExt cx="8122" cy="822"/>
          </a:xfrm>
        </p:grpSpPr>
        <p:cxnSp>
          <p:nvCxnSpPr>
            <p:cNvPr id="5" name="直接连接符 12">
              <a:extLst>
                <a:ext uri="{FF2B5EF4-FFF2-40B4-BE49-F238E27FC236}">
                  <a16:creationId xmlns:a16="http://schemas.microsoft.com/office/drawing/2014/main" id="{FBA406DA-9794-6E68-DA8B-87B29B182250}"/>
                </a:ext>
              </a:extLst>
            </p:cNvPr>
            <p:cNvCxnSpPr>
              <a:endCxn id="7" idx="1"/>
            </p:cNvCxnSpPr>
            <p:nvPr/>
          </p:nvCxnSpPr>
          <p:spPr>
            <a:xfrm flipV="1">
              <a:off x="7193" y="3914"/>
              <a:ext cx="5568" cy="1"/>
            </a:xfrm>
            <a:prstGeom prst="line">
              <a:avLst/>
            </a:prstGeom>
            <a:ln w="57150">
              <a:solidFill>
                <a:srgbClr val="FF000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24887752-2F3A-E152-EE89-8309C5240014}"/>
                </a:ext>
              </a:extLst>
            </p:cNvPr>
            <p:cNvSpPr txBox="1"/>
            <p:nvPr/>
          </p:nvSpPr>
          <p:spPr>
            <a:xfrm>
              <a:off x="12761" y="3503"/>
              <a:ext cx="2554" cy="8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800" dirty="0">
                  <a:ln w="0"/>
                  <a:solidFill>
                    <a:srgbClr val="FF0000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楷体" panose="02010609060101010101" pitchFamily="49" charset="-122"/>
                  <a:ea typeface="楷体" panose="02010609060101010101" pitchFamily="49" charset="-122"/>
                  <a:cs typeface="楷体" panose="02010609060101010101" pitchFamily="49" charset="-122"/>
                </a:rPr>
                <a:t>平均数</a:t>
              </a:r>
              <a:r>
                <a:rPr lang="en-US" altLang="zh-CN" sz="2800" dirty="0">
                  <a:ln w="0"/>
                  <a:solidFill>
                    <a:srgbClr val="FF0000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楷体" panose="02010609060101010101" pitchFamily="49" charset="-122"/>
                  <a:ea typeface="楷体" panose="02010609060101010101" pitchFamily="49" charset="-122"/>
                  <a:cs typeface="楷体" panose="02010609060101010101" pitchFamily="49" charset="-122"/>
                </a:rPr>
                <a:t>8 </a:t>
              </a:r>
              <a:endParaRPr lang="zh-CN" altLang="en-US" sz="2800" dirty="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uction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900" decel="1000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3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9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3" presetClass="exit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25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uction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3" presetClass="exit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33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3" presetClass="exit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36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3" presetClass="exit" presetSubtype="1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39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4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uction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43" presetID="37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10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900" decel="1000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3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0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2" dur="1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900" decel="100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uction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60" presetID="3" presetClass="exit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61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3" presetClass="exit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66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" presetID="3" presetClass="exit" presetSubtype="1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69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3" presetClass="exit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72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74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uction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3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10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10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900" decel="1000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3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4" presetID="3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10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7" dur="10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8" dur="900" decel="1000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94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99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  <p:bldP spid="30" grpId="1"/>
      <p:bldP spid="44" grpId="0"/>
      <p:bldP spid="44" grpId="1"/>
      <p:bldP spid="75" grpId="0"/>
      <p:bldP spid="77" grpId="0"/>
      <p:bldP spid="78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" name="图片 142" descr="图片包含 游戏机, 钟表, 仪表&#10;&#10;描述已自动生成"/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304" t="40998"/>
          <a:stretch>
            <a:fillRect/>
          </a:stretch>
        </p:blipFill>
        <p:spPr>
          <a:xfrm>
            <a:off x="10487025" y="5543346"/>
            <a:ext cx="2242643" cy="1314653"/>
          </a:xfrm>
          <a:custGeom>
            <a:avLst/>
            <a:gdLst>
              <a:gd name="connsiteX0" fmla="*/ 0 w 4419600"/>
              <a:gd name="connsiteY0" fmla="*/ 0 h 2590800"/>
              <a:gd name="connsiteX1" fmla="*/ 4419600 w 4419600"/>
              <a:gd name="connsiteY1" fmla="*/ 0 h 2590800"/>
              <a:gd name="connsiteX2" fmla="*/ 4419600 w 4419600"/>
              <a:gd name="connsiteY2" fmla="*/ 2590800 h 2590800"/>
              <a:gd name="connsiteX3" fmla="*/ 0 w 4419600"/>
              <a:gd name="connsiteY3" fmla="*/ 2590800 h 2590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19600" h="2590800">
                <a:moveTo>
                  <a:pt x="0" y="0"/>
                </a:moveTo>
                <a:lnTo>
                  <a:pt x="4419600" y="0"/>
                </a:lnTo>
                <a:lnTo>
                  <a:pt x="4419600" y="2590800"/>
                </a:lnTo>
                <a:lnTo>
                  <a:pt x="0" y="2590800"/>
                </a:lnTo>
                <a:close/>
              </a:path>
            </a:pathLst>
          </a:custGeom>
        </p:spPr>
      </p:pic>
      <p:pic>
        <p:nvPicPr>
          <p:cNvPr id="144" name="图片 143" descr="图片包含 游戏机, 钟表, 仪表&#10;&#10;描述已自动生成"/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751" r="62477" b="55965"/>
          <a:stretch>
            <a:fillRect/>
          </a:stretch>
        </p:blipFill>
        <p:spPr>
          <a:xfrm>
            <a:off x="-152400" y="-171450"/>
            <a:ext cx="1829926" cy="1485900"/>
          </a:xfrm>
          <a:custGeom>
            <a:avLst/>
            <a:gdLst>
              <a:gd name="connsiteX0" fmla="*/ 0 w 2381250"/>
              <a:gd name="connsiteY0" fmla="*/ 0 h 1933575"/>
              <a:gd name="connsiteX1" fmla="*/ 2381250 w 2381250"/>
              <a:gd name="connsiteY1" fmla="*/ 0 h 1933575"/>
              <a:gd name="connsiteX2" fmla="*/ 2381250 w 2381250"/>
              <a:gd name="connsiteY2" fmla="*/ 1933575 h 1933575"/>
              <a:gd name="connsiteX3" fmla="*/ 0 w 2381250"/>
              <a:gd name="connsiteY3" fmla="*/ 1933575 h 19335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81250" h="1933575">
                <a:moveTo>
                  <a:pt x="0" y="0"/>
                </a:moveTo>
                <a:lnTo>
                  <a:pt x="2381250" y="0"/>
                </a:lnTo>
                <a:lnTo>
                  <a:pt x="2381250" y="1933575"/>
                </a:lnTo>
                <a:lnTo>
                  <a:pt x="0" y="1933575"/>
                </a:lnTo>
                <a:close/>
              </a:path>
            </a:pathLst>
          </a:custGeom>
        </p:spPr>
      </p:pic>
      <p:pic>
        <p:nvPicPr>
          <p:cNvPr id="145" name="图片 144" descr="图片包含 游戏机, 钟表, 仪表&#10;&#10;描述已自动生成"/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641"/>
          <a:stretch>
            <a:fillRect/>
          </a:stretch>
        </p:blipFill>
        <p:spPr>
          <a:xfrm>
            <a:off x="-228600" y="4629857"/>
            <a:ext cx="2099855" cy="2228143"/>
          </a:xfrm>
          <a:custGeom>
            <a:avLst/>
            <a:gdLst>
              <a:gd name="connsiteX0" fmla="*/ 0 w 4138206"/>
              <a:gd name="connsiteY0" fmla="*/ 0 h 4391025"/>
              <a:gd name="connsiteX1" fmla="*/ 4138206 w 4138206"/>
              <a:gd name="connsiteY1" fmla="*/ 0 h 4391025"/>
              <a:gd name="connsiteX2" fmla="*/ 4138206 w 4138206"/>
              <a:gd name="connsiteY2" fmla="*/ 128587 h 4391025"/>
              <a:gd name="connsiteX3" fmla="*/ 2052230 w 4138206"/>
              <a:gd name="connsiteY3" fmla="*/ 128587 h 4391025"/>
              <a:gd name="connsiteX4" fmla="*/ 2052230 w 4138206"/>
              <a:gd name="connsiteY4" fmla="*/ 2081212 h 4391025"/>
              <a:gd name="connsiteX5" fmla="*/ 4138206 w 4138206"/>
              <a:gd name="connsiteY5" fmla="*/ 2081212 h 4391025"/>
              <a:gd name="connsiteX6" fmla="*/ 4138206 w 4138206"/>
              <a:gd name="connsiteY6" fmla="*/ 4391025 h 4391025"/>
              <a:gd name="connsiteX7" fmla="*/ 0 w 4138206"/>
              <a:gd name="connsiteY7" fmla="*/ 4391025 h 4391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138206" h="4391025">
                <a:moveTo>
                  <a:pt x="0" y="0"/>
                </a:moveTo>
                <a:lnTo>
                  <a:pt x="4138206" y="0"/>
                </a:lnTo>
                <a:lnTo>
                  <a:pt x="4138206" y="128587"/>
                </a:lnTo>
                <a:lnTo>
                  <a:pt x="2052230" y="128587"/>
                </a:lnTo>
                <a:lnTo>
                  <a:pt x="2052230" y="2081212"/>
                </a:lnTo>
                <a:lnTo>
                  <a:pt x="4138206" y="2081212"/>
                </a:lnTo>
                <a:lnTo>
                  <a:pt x="4138206" y="4391025"/>
                </a:lnTo>
                <a:lnTo>
                  <a:pt x="0" y="4391025"/>
                </a:lnTo>
                <a:close/>
              </a:path>
            </a:pathLst>
          </a:custGeom>
        </p:spPr>
      </p:pic>
      <p:sp>
        <p:nvSpPr>
          <p:cNvPr id="64" name="矩形 63"/>
          <p:cNvSpPr/>
          <p:nvPr/>
        </p:nvSpPr>
        <p:spPr>
          <a:xfrm>
            <a:off x="7060565" y="6268720"/>
            <a:ext cx="1467485" cy="2298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/>
          <p:cNvSpPr txBox="1"/>
          <p:nvPr/>
        </p:nvSpPr>
        <p:spPr>
          <a:xfrm>
            <a:off x="1351915" y="958215"/>
            <a:ext cx="948817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>
                <a:latin typeface="微软雅黑" panose="020B0503020204020204" pitchFamily="34" charset="-122"/>
                <a:ea typeface="微软雅黑" panose="020B0503020204020204" pitchFamily="34" charset="-122"/>
              </a:rPr>
              <a:t>请根据男生队和女生队的投球情况，比一比，哪个队好一些？</a:t>
            </a:r>
          </a:p>
        </p:txBody>
      </p:sp>
      <p:graphicFrame>
        <p:nvGraphicFramePr>
          <p:cNvPr id="8" name="表格 7"/>
          <p:cNvGraphicFramePr/>
          <p:nvPr>
            <p:custDataLst>
              <p:tags r:id="rId1"/>
            </p:custDataLst>
          </p:nvPr>
        </p:nvGraphicFramePr>
        <p:xfrm>
          <a:off x="1708785" y="2645410"/>
          <a:ext cx="2795270" cy="3079750"/>
        </p:xfrm>
        <a:graphic>
          <a:graphicData uri="http://schemas.openxmlformats.org/drawingml/2006/table">
            <a:tbl>
              <a:tblPr firstRow="1">
                <a:tableStyleId>{431C1316-3D13-47B2-8BB8-DB9387CCB30D}</a:tableStyleId>
              </a:tblPr>
              <a:tblGrid>
                <a:gridCol w="13976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976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1595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序号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成绩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595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3200"/>
                        <a:t>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320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595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3200"/>
                        <a:t>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3200"/>
                        <a:t>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595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3200"/>
                        <a:t>③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320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595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3200"/>
                        <a:t>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3200"/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文本框 8"/>
          <p:cNvSpPr txBox="1"/>
          <p:nvPr/>
        </p:nvSpPr>
        <p:spPr>
          <a:xfrm>
            <a:off x="2446655" y="1979295"/>
            <a:ext cx="170942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b="1">
                <a:latin typeface="楷体" panose="02010609060101010101" pitchFamily="49" charset="-122"/>
                <a:ea typeface="楷体" panose="02010609060101010101" pitchFamily="49" charset="-122"/>
              </a:rPr>
              <a:t>男生队</a:t>
            </a:r>
          </a:p>
        </p:txBody>
      </p:sp>
      <p:sp>
        <p:nvSpPr>
          <p:cNvPr id="10" name="文本框 9"/>
          <p:cNvSpPr txBox="1"/>
          <p:nvPr/>
        </p:nvSpPr>
        <p:spPr>
          <a:xfrm>
            <a:off x="7108825" y="1979295"/>
            <a:ext cx="170942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b="1">
                <a:latin typeface="楷体" panose="02010609060101010101" pitchFamily="49" charset="-122"/>
                <a:ea typeface="楷体" panose="02010609060101010101" pitchFamily="49" charset="-122"/>
              </a:rPr>
              <a:t>女生队</a:t>
            </a:r>
          </a:p>
        </p:txBody>
      </p:sp>
      <p:graphicFrame>
        <p:nvGraphicFramePr>
          <p:cNvPr id="11" name="表格 10"/>
          <p:cNvGraphicFramePr/>
          <p:nvPr>
            <p:custDataLst>
              <p:tags r:id="rId2"/>
            </p:custDataLst>
          </p:nvPr>
        </p:nvGraphicFramePr>
        <p:xfrm>
          <a:off x="6211570" y="2641600"/>
          <a:ext cx="3036570" cy="3507740"/>
        </p:xfrm>
        <a:graphic>
          <a:graphicData uri="http://schemas.openxmlformats.org/drawingml/2006/table">
            <a:tbl>
              <a:tblPr firstRow="1">
                <a:tableStyleId>{0503B946-CA36-49A4-B27B-869D69C26D61}</a:tableStyleId>
              </a:tblPr>
              <a:tblGrid>
                <a:gridCol w="151828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1828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79120">
                <a:tc>
                  <a:txBody>
                    <a:bodyPr/>
                    <a:lstStyle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2800" b="1"/>
                        <a:t>序号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2800" b="1" dirty="0" err="1"/>
                        <a:t>成绩</a:t>
                      </a:r>
                      <a:endParaRPr lang="en-US" altLang="zh-CN" sz="28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2140">
                <a:tc>
                  <a:txBody>
                    <a:bodyPr/>
                    <a:lstStyle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3200" b="0">
                          <a:sym typeface="+mn-ea"/>
                        </a:rPr>
                        <a:t>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3200" b="0" dirty="0"/>
                        <a:t>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9120">
                <a:tc>
                  <a:txBody>
                    <a:bodyPr/>
                    <a:lstStyle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3200" b="0">
                          <a:sym typeface="+mn-ea"/>
                        </a:rPr>
                        <a:t>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3200" b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9120">
                <a:tc>
                  <a:txBody>
                    <a:bodyPr/>
                    <a:lstStyle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3200" b="0"/>
                        <a:t>③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3200" b="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9120">
                <a:tc>
                  <a:txBody>
                    <a:bodyPr/>
                    <a:lstStyle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3200" b="0"/>
                        <a:t>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3200" b="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9120">
                <a:tc>
                  <a:txBody>
                    <a:bodyPr/>
                    <a:lstStyle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3200" b="0"/>
                        <a:t>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3200" b="0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图片 14" descr="图片包含 游戏机, 钟表, 仪表&#10;&#10;描述已自动生成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304" t="40998"/>
          <a:stretch>
            <a:fillRect/>
          </a:stretch>
        </p:blipFill>
        <p:spPr>
          <a:xfrm>
            <a:off x="10487025" y="5543346"/>
            <a:ext cx="2242643" cy="1314653"/>
          </a:xfrm>
          <a:custGeom>
            <a:avLst/>
            <a:gdLst>
              <a:gd name="connsiteX0" fmla="*/ 0 w 4419600"/>
              <a:gd name="connsiteY0" fmla="*/ 0 h 2590800"/>
              <a:gd name="connsiteX1" fmla="*/ 4419600 w 4419600"/>
              <a:gd name="connsiteY1" fmla="*/ 0 h 2590800"/>
              <a:gd name="connsiteX2" fmla="*/ 4419600 w 4419600"/>
              <a:gd name="connsiteY2" fmla="*/ 2590800 h 2590800"/>
              <a:gd name="connsiteX3" fmla="*/ 0 w 4419600"/>
              <a:gd name="connsiteY3" fmla="*/ 2590800 h 2590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19600" h="2590800">
                <a:moveTo>
                  <a:pt x="0" y="0"/>
                </a:moveTo>
                <a:lnTo>
                  <a:pt x="4419600" y="0"/>
                </a:lnTo>
                <a:lnTo>
                  <a:pt x="4419600" y="2590800"/>
                </a:lnTo>
                <a:lnTo>
                  <a:pt x="0" y="2590800"/>
                </a:lnTo>
                <a:close/>
              </a:path>
            </a:pathLst>
          </a:custGeom>
        </p:spPr>
      </p:pic>
      <p:pic>
        <p:nvPicPr>
          <p:cNvPr id="10" name="图片 9" descr="图片包含 游戏机, 钟表, 仪表&#10;&#10;描述已自动生成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751" r="62477" b="55965"/>
          <a:stretch>
            <a:fillRect/>
          </a:stretch>
        </p:blipFill>
        <p:spPr>
          <a:xfrm>
            <a:off x="-152400" y="-171450"/>
            <a:ext cx="1829926" cy="1485900"/>
          </a:xfrm>
          <a:custGeom>
            <a:avLst/>
            <a:gdLst>
              <a:gd name="connsiteX0" fmla="*/ 0 w 2381250"/>
              <a:gd name="connsiteY0" fmla="*/ 0 h 1933575"/>
              <a:gd name="connsiteX1" fmla="*/ 2381250 w 2381250"/>
              <a:gd name="connsiteY1" fmla="*/ 0 h 1933575"/>
              <a:gd name="connsiteX2" fmla="*/ 2381250 w 2381250"/>
              <a:gd name="connsiteY2" fmla="*/ 1933575 h 1933575"/>
              <a:gd name="connsiteX3" fmla="*/ 0 w 2381250"/>
              <a:gd name="connsiteY3" fmla="*/ 1933575 h 19335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81250" h="1933575">
                <a:moveTo>
                  <a:pt x="0" y="0"/>
                </a:moveTo>
                <a:lnTo>
                  <a:pt x="2381250" y="0"/>
                </a:lnTo>
                <a:lnTo>
                  <a:pt x="2381250" y="1933575"/>
                </a:lnTo>
                <a:lnTo>
                  <a:pt x="0" y="1933575"/>
                </a:lnTo>
                <a:close/>
              </a:path>
            </a:pathLst>
          </a:custGeom>
        </p:spPr>
      </p:pic>
      <p:pic>
        <p:nvPicPr>
          <p:cNvPr id="14" name="图片 13" descr="图片包含 游戏机, 钟表, 仪表&#10;&#10;描述已自动生成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641"/>
          <a:stretch>
            <a:fillRect/>
          </a:stretch>
        </p:blipFill>
        <p:spPr>
          <a:xfrm>
            <a:off x="-228600" y="4629857"/>
            <a:ext cx="2099855" cy="2228143"/>
          </a:xfrm>
          <a:custGeom>
            <a:avLst/>
            <a:gdLst>
              <a:gd name="connsiteX0" fmla="*/ 0 w 4138206"/>
              <a:gd name="connsiteY0" fmla="*/ 0 h 4391025"/>
              <a:gd name="connsiteX1" fmla="*/ 4138206 w 4138206"/>
              <a:gd name="connsiteY1" fmla="*/ 0 h 4391025"/>
              <a:gd name="connsiteX2" fmla="*/ 4138206 w 4138206"/>
              <a:gd name="connsiteY2" fmla="*/ 128587 h 4391025"/>
              <a:gd name="connsiteX3" fmla="*/ 2052230 w 4138206"/>
              <a:gd name="connsiteY3" fmla="*/ 128587 h 4391025"/>
              <a:gd name="connsiteX4" fmla="*/ 2052230 w 4138206"/>
              <a:gd name="connsiteY4" fmla="*/ 2081212 h 4391025"/>
              <a:gd name="connsiteX5" fmla="*/ 4138206 w 4138206"/>
              <a:gd name="connsiteY5" fmla="*/ 2081212 h 4391025"/>
              <a:gd name="connsiteX6" fmla="*/ 4138206 w 4138206"/>
              <a:gd name="connsiteY6" fmla="*/ 4391025 h 4391025"/>
              <a:gd name="connsiteX7" fmla="*/ 0 w 4138206"/>
              <a:gd name="connsiteY7" fmla="*/ 4391025 h 4391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138206" h="4391025">
                <a:moveTo>
                  <a:pt x="0" y="0"/>
                </a:moveTo>
                <a:lnTo>
                  <a:pt x="4138206" y="0"/>
                </a:lnTo>
                <a:lnTo>
                  <a:pt x="4138206" y="128587"/>
                </a:lnTo>
                <a:lnTo>
                  <a:pt x="2052230" y="128587"/>
                </a:lnTo>
                <a:lnTo>
                  <a:pt x="2052230" y="2081212"/>
                </a:lnTo>
                <a:lnTo>
                  <a:pt x="4138206" y="2081212"/>
                </a:lnTo>
                <a:lnTo>
                  <a:pt x="4138206" y="4391025"/>
                </a:lnTo>
                <a:lnTo>
                  <a:pt x="0" y="4391025"/>
                </a:lnTo>
                <a:close/>
              </a:path>
            </a:pathLst>
          </a:custGeom>
        </p:spPr>
      </p:pic>
      <p:pic>
        <p:nvPicPr>
          <p:cNvPr id="56" name="图片 55" descr="360截图202501261730546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75760" y="1163955"/>
            <a:ext cx="4451350" cy="4582160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4984750" y="483870"/>
            <a:ext cx="296227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b="1">
                <a:latin typeface="楷体" panose="02010609060101010101" pitchFamily="49" charset="-122"/>
                <a:ea typeface="楷体" panose="02010609060101010101" pitchFamily="49" charset="-122"/>
              </a:rPr>
              <a:t>女生队投进个数统计图</a:t>
            </a:r>
          </a:p>
        </p:txBody>
      </p:sp>
      <p:sp>
        <p:nvSpPr>
          <p:cNvPr id="23" name="文本框 22"/>
          <p:cNvSpPr txBox="1"/>
          <p:nvPr/>
        </p:nvSpPr>
        <p:spPr>
          <a:xfrm>
            <a:off x="4749800" y="1163955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>
                <a:latin typeface="楷体" panose="02010609060101010101" pitchFamily="49" charset="-122"/>
                <a:ea typeface="楷体" panose="02010609060101010101" pitchFamily="49" charset="-122"/>
              </a:rPr>
              <a:t>11</a:t>
            </a:r>
          </a:p>
        </p:txBody>
      </p:sp>
      <p:sp>
        <p:nvSpPr>
          <p:cNvPr id="53" name="文本框 52"/>
          <p:cNvSpPr txBox="1"/>
          <p:nvPr/>
        </p:nvSpPr>
        <p:spPr>
          <a:xfrm>
            <a:off x="5536565" y="3703320"/>
            <a:ext cx="22161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>
                <a:latin typeface="楷体" panose="02010609060101010101" pitchFamily="49" charset="-122"/>
                <a:ea typeface="楷体" panose="02010609060101010101" pitchFamily="49" charset="-122"/>
              </a:rPr>
              <a:t>4</a:t>
            </a:r>
          </a:p>
        </p:txBody>
      </p:sp>
      <p:sp>
        <p:nvSpPr>
          <p:cNvPr id="55" name="文本框 54"/>
          <p:cNvSpPr txBox="1"/>
          <p:nvPr/>
        </p:nvSpPr>
        <p:spPr>
          <a:xfrm>
            <a:off x="6967220" y="3385820"/>
            <a:ext cx="480695" cy="25844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 b="1">
                <a:latin typeface="楷体" panose="02010609060101010101" pitchFamily="49" charset="-122"/>
                <a:ea typeface="楷体" panose="02010609060101010101" pitchFamily="49" charset="-122"/>
              </a:rPr>
              <a:t>5</a:t>
            </a:r>
          </a:p>
        </p:txBody>
      </p:sp>
      <p:sp>
        <p:nvSpPr>
          <p:cNvPr id="36" name="矩形 35"/>
          <p:cNvSpPr/>
          <p:nvPr/>
        </p:nvSpPr>
        <p:spPr>
          <a:xfrm>
            <a:off x="4792980" y="2549525"/>
            <a:ext cx="346075" cy="714375"/>
          </a:xfrm>
          <a:prstGeom prst="rect">
            <a:avLst/>
          </a:prstGeom>
          <a:solidFill>
            <a:srgbClr val="FF1C00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" name="矩形 36"/>
          <p:cNvSpPr/>
          <p:nvPr/>
        </p:nvSpPr>
        <p:spPr>
          <a:xfrm>
            <a:off x="4800600" y="3258820"/>
            <a:ext cx="340995" cy="2166620"/>
          </a:xfrm>
          <a:prstGeom prst="rect">
            <a:avLst/>
          </a:prstGeom>
          <a:solidFill>
            <a:srgbClr val="FF1C00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矩形 37"/>
          <p:cNvSpPr/>
          <p:nvPr/>
        </p:nvSpPr>
        <p:spPr>
          <a:xfrm>
            <a:off x="4800600" y="1443990"/>
            <a:ext cx="339090" cy="765175"/>
          </a:xfrm>
          <a:prstGeom prst="rect">
            <a:avLst/>
          </a:prstGeom>
          <a:solidFill>
            <a:srgbClr val="FF1C00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矩形 43"/>
          <p:cNvSpPr/>
          <p:nvPr/>
        </p:nvSpPr>
        <p:spPr>
          <a:xfrm>
            <a:off x="6929755" y="3644265"/>
            <a:ext cx="338455" cy="1781175"/>
          </a:xfrm>
          <a:prstGeom prst="rect">
            <a:avLst/>
          </a:prstGeom>
          <a:solidFill>
            <a:srgbClr val="FF1C00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" name="矩形 45"/>
          <p:cNvSpPr/>
          <p:nvPr/>
        </p:nvSpPr>
        <p:spPr>
          <a:xfrm>
            <a:off x="6209030" y="3291840"/>
            <a:ext cx="337820" cy="2127250"/>
          </a:xfrm>
          <a:prstGeom prst="rect">
            <a:avLst/>
          </a:prstGeom>
          <a:solidFill>
            <a:srgbClr val="FF1C00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" name="文本框 47"/>
          <p:cNvSpPr txBox="1"/>
          <p:nvPr/>
        </p:nvSpPr>
        <p:spPr>
          <a:xfrm>
            <a:off x="6222365" y="2973070"/>
            <a:ext cx="22161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>
                <a:latin typeface="楷体" panose="02010609060101010101" pitchFamily="49" charset="-122"/>
                <a:ea typeface="楷体" panose="02010609060101010101" pitchFamily="49" charset="-122"/>
              </a:rPr>
              <a:t>6</a:t>
            </a:r>
          </a:p>
        </p:txBody>
      </p:sp>
      <p:sp>
        <p:nvSpPr>
          <p:cNvPr id="50" name="文本框 49"/>
          <p:cNvSpPr txBox="1"/>
          <p:nvPr/>
        </p:nvSpPr>
        <p:spPr>
          <a:xfrm>
            <a:off x="7657465" y="3728720"/>
            <a:ext cx="22161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>
                <a:latin typeface="楷体" panose="02010609060101010101" pitchFamily="49" charset="-122"/>
                <a:ea typeface="楷体" panose="02010609060101010101" pitchFamily="49" charset="-122"/>
              </a:rPr>
              <a:t>4</a:t>
            </a:r>
          </a:p>
        </p:txBody>
      </p:sp>
      <p:sp>
        <p:nvSpPr>
          <p:cNvPr id="61" name="矩形 60"/>
          <p:cNvSpPr/>
          <p:nvPr/>
        </p:nvSpPr>
        <p:spPr>
          <a:xfrm>
            <a:off x="5506720" y="4003040"/>
            <a:ext cx="346075" cy="1416050"/>
          </a:xfrm>
          <a:prstGeom prst="rect">
            <a:avLst/>
          </a:prstGeom>
          <a:solidFill>
            <a:srgbClr val="FF1C00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3" name="矩形 62"/>
          <p:cNvSpPr/>
          <p:nvPr/>
        </p:nvSpPr>
        <p:spPr>
          <a:xfrm>
            <a:off x="4803140" y="2199640"/>
            <a:ext cx="338455" cy="363220"/>
          </a:xfrm>
          <a:prstGeom prst="rect">
            <a:avLst/>
          </a:prstGeom>
          <a:solidFill>
            <a:srgbClr val="FF1C00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矩形 63"/>
          <p:cNvSpPr/>
          <p:nvPr/>
        </p:nvSpPr>
        <p:spPr>
          <a:xfrm>
            <a:off x="7616190" y="4003040"/>
            <a:ext cx="339090" cy="1416050"/>
          </a:xfrm>
          <a:prstGeom prst="rect">
            <a:avLst/>
          </a:prstGeom>
          <a:solidFill>
            <a:srgbClr val="FF1C00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67" name="组合 66"/>
          <p:cNvGrpSpPr/>
          <p:nvPr/>
        </p:nvGrpSpPr>
        <p:grpSpPr>
          <a:xfrm>
            <a:off x="4186555" y="3069590"/>
            <a:ext cx="6475730" cy="398780"/>
            <a:chOff x="7193" y="3784"/>
            <a:chExt cx="8122" cy="628"/>
          </a:xfrm>
        </p:grpSpPr>
        <p:cxnSp>
          <p:nvCxnSpPr>
            <p:cNvPr id="68" name="直接连接符 67"/>
            <p:cNvCxnSpPr>
              <a:endCxn id="69" idx="1"/>
            </p:cNvCxnSpPr>
            <p:nvPr/>
          </p:nvCxnSpPr>
          <p:spPr>
            <a:xfrm flipV="1">
              <a:off x="7193" y="4098"/>
              <a:ext cx="5568" cy="1"/>
            </a:xfrm>
            <a:prstGeom prst="line">
              <a:avLst/>
            </a:prstGeom>
            <a:ln w="57150">
              <a:solidFill>
                <a:srgbClr val="FF000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9" name="文本框 68"/>
            <p:cNvSpPr txBox="1"/>
            <p:nvPr/>
          </p:nvSpPr>
          <p:spPr>
            <a:xfrm>
              <a:off x="12761" y="3784"/>
              <a:ext cx="2554" cy="6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000" dirty="0">
                  <a:ln w="0"/>
                  <a:solidFill>
                    <a:srgbClr val="FF0000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楷体" panose="02010609060101010101" pitchFamily="49" charset="-122"/>
                  <a:ea typeface="楷体" panose="02010609060101010101" pitchFamily="49" charset="-122"/>
                  <a:cs typeface="楷体" panose="02010609060101010101" pitchFamily="49" charset="-122"/>
                </a:rPr>
                <a:t>平均数</a:t>
              </a:r>
              <a:r>
                <a:rPr lang="en-US" altLang="zh-CN" sz="2000" dirty="0">
                  <a:ln w="0"/>
                  <a:solidFill>
                    <a:srgbClr val="FF0000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楷体" panose="02010609060101010101" pitchFamily="49" charset="-122"/>
                  <a:ea typeface="楷体" panose="02010609060101010101" pitchFamily="49" charset="-122"/>
                  <a:cs typeface="楷体" panose="02010609060101010101" pitchFamily="49" charset="-122"/>
                </a:rPr>
                <a:t> 6</a:t>
              </a:r>
              <a:endParaRPr lang="zh-CN" altLang="en-US" sz="2000" dirty="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endParaRP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图片 14" descr="图片包含 游戏机, 钟表, 仪表&#10;&#10;描述已自动生成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304" t="40998"/>
          <a:stretch>
            <a:fillRect/>
          </a:stretch>
        </p:blipFill>
        <p:spPr>
          <a:xfrm>
            <a:off x="10487025" y="5543346"/>
            <a:ext cx="2242643" cy="1314653"/>
          </a:xfrm>
          <a:custGeom>
            <a:avLst/>
            <a:gdLst>
              <a:gd name="connsiteX0" fmla="*/ 0 w 4419600"/>
              <a:gd name="connsiteY0" fmla="*/ 0 h 2590800"/>
              <a:gd name="connsiteX1" fmla="*/ 4419600 w 4419600"/>
              <a:gd name="connsiteY1" fmla="*/ 0 h 2590800"/>
              <a:gd name="connsiteX2" fmla="*/ 4419600 w 4419600"/>
              <a:gd name="connsiteY2" fmla="*/ 2590800 h 2590800"/>
              <a:gd name="connsiteX3" fmla="*/ 0 w 4419600"/>
              <a:gd name="connsiteY3" fmla="*/ 2590800 h 2590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19600" h="2590800">
                <a:moveTo>
                  <a:pt x="0" y="0"/>
                </a:moveTo>
                <a:lnTo>
                  <a:pt x="4419600" y="0"/>
                </a:lnTo>
                <a:lnTo>
                  <a:pt x="4419600" y="2590800"/>
                </a:lnTo>
                <a:lnTo>
                  <a:pt x="0" y="2590800"/>
                </a:lnTo>
                <a:close/>
              </a:path>
            </a:pathLst>
          </a:custGeom>
        </p:spPr>
      </p:pic>
      <p:pic>
        <p:nvPicPr>
          <p:cNvPr id="12" name="图片 11" descr="图片包含 游戏机, 钟表, 仪表&#10;&#10;描述已自动生成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751" r="62477" b="55965"/>
          <a:stretch>
            <a:fillRect/>
          </a:stretch>
        </p:blipFill>
        <p:spPr>
          <a:xfrm>
            <a:off x="-152400" y="-171450"/>
            <a:ext cx="1829926" cy="1485900"/>
          </a:xfrm>
          <a:custGeom>
            <a:avLst/>
            <a:gdLst>
              <a:gd name="connsiteX0" fmla="*/ 0 w 2381250"/>
              <a:gd name="connsiteY0" fmla="*/ 0 h 1933575"/>
              <a:gd name="connsiteX1" fmla="*/ 2381250 w 2381250"/>
              <a:gd name="connsiteY1" fmla="*/ 0 h 1933575"/>
              <a:gd name="connsiteX2" fmla="*/ 2381250 w 2381250"/>
              <a:gd name="connsiteY2" fmla="*/ 1933575 h 1933575"/>
              <a:gd name="connsiteX3" fmla="*/ 0 w 2381250"/>
              <a:gd name="connsiteY3" fmla="*/ 1933575 h 19335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81250" h="1933575">
                <a:moveTo>
                  <a:pt x="0" y="0"/>
                </a:moveTo>
                <a:lnTo>
                  <a:pt x="2381250" y="0"/>
                </a:lnTo>
                <a:lnTo>
                  <a:pt x="2381250" y="1933575"/>
                </a:lnTo>
                <a:lnTo>
                  <a:pt x="0" y="1933575"/>
                </a:lnTo>
                <a:close/>
              </a:path>
            </a:pathLst>
          </a:custGeom>
        </p:spPr>
      </p:pic>
      <p:pic>
        <p:nvPicPr>
          <p:cNvPr id="14" name="图片 13" descr="图片包含 游戏机, 钟表, 仪表&#10;&#10;描述已自动生成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641"/>
          <a:stretch>
            <a:fillRect/>
          </a:stretch>
        </p:blipFill>
        <p:spPr>
          <a:xfrm>
            <a:off x="-228600" y="4629857"/>
            <a:ext cx="2099855" cy="2228143"/>
          </a:xfrm>
          <a:custGeom>
            <a:avLst/>
            <a:gdLst>
              <a:gd name="connsiteX0" fmla="*/ 0 w 4138206"/>
              <a:gd name="connsiteY0" fmla="*/ 0 h 4391025"/>
              <a:gd name="connsiteX1" fmla="*/ 4138206 w 4138206"/>
              <a:gd name="connsiteY1" fmla="*/ 0 h 4391025"/>
              <a:gd name="connsiteX2" fmla="*/ 4138206 w 4138206"/>
              <a:gd name="connsiteY2" fmla="*/ 128587 h 4391025"/>
              <a:gd name="connsiteX3" fmla="*/ 2052230 w 4138206"/>
              <a:gd name="connsiteY3" fmla="*/ 128587 h 4391025"/>
              <a:gd name="connsiteX4" fmla="*/ 2052230 w 4138206"/>
              <a:gd name="connsiteY4" fmla="*/ 2081212 h 4391025"/>
              <a:gd name="connsiteX5" fmla="*/ 4138206 w 4138206"/>
              <a:gd name="connsiteY5" fmla="*/ 2081212 h 4391025"/>
              <a:gd name="connsiteX6" fmla="*/ 4138206 w 4138206"/>
              <a:gd name="connsiteY6" fmla="*/ 4391025 h 4391025"/>
              <a:gd name="connsiteX7" fmla="*/ 0 w 4138206"/>
              <a:gd name="connsiteY7" fmla="*/ 4391025 h 4391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138206" h="4391025">
                <a:moveTo>
                  <a:pt x="0" y="0"/>
                </a:moveTo>
                <a:lnTo>
                  <a:pt x="4138206" y="0"/>
                </a:lnTo>
                <a:lnTo>
                  <a:pt x="4138206" y="128587"/>
                </a:lnTo>
                <a:lnTo>
                  <a:pt x="2052230" y="128587"/>
                </a:lnTo>
                <a:lnTo>
                  <a:pt x="2052230" y="2081212"/>
                </a:lnTo>
                <a:lnTo>
                  <a:pt x="4138206" y="2081212"/>
                </a:lnTo>
                <a:lnTo>
                  <a:pt x="4138206" y="4391025"/>
                </a:lnTo>
                <a:lnTo>
                  <a:pt x="0" y="4391025"/>
                </a:lnTo>
                <a:close/>
              </a:path>
            </a:pathLst>
          </a:custGeom>
        </p:spPr>
      </p:pic>
      <p:sp>
        <p:nvSpPr>
          <p:cNvPr id="2" name="矩形: 圆角 1"/>
          <p:cNvSpPr/>
          <p:nvPr/>
        </p:nvSpPr>
        <p:spPr>
          <a:xfrm>
            <a:off x="1747520" y="610870"/>
            <a:ext cx="2548255" cy="527685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r>
              <a:rPr lang="zh-CN" altLang="en-US" sz="2400" b="1" dirty="0">
                <a:latin typeface="楷体" panose="02010609060101010101" pitchFamily="49" charset="-122"/>
                <a:ea typeface="楷体" panose="02010609060101010101" pitchFamily="49" charset="-122"/>
              </a:rPr>
              <a:t>生活中的平均数</a:t>
            </a: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4">
            <a:clrChange>
              <a:clrFrom>
                <a:srgbClr val="F6F6F6"/>
              </a:clrFrom>
              <a:clrTo>
                <a:srgbClr val="F6F6F6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42242" y="270336"/>
            <a:ext cx="1154991" cy="1167175"/>
          </a:xfrm>
          <a:prstGeom prst="rect">
            <a:avLst/>
          </a:prstGeom>
        </p:spPr>
      </p:pic>
      <p:sp>
        <p:nvSpPr>
          <p:cNvPr id="4" name="直角上箭头 3"/>
          <p:cNvSpPr/>
          <p:nvPr/>
        </p:nvSpPr>
        <p:spPr>
          <a:xfrm rot="16200000">
            <a:off x="7072630" y="1147445"/>
            <a:ext cx="1144905" cy="2369820"/>
          </a:xfrm>
          <a:prstGeom prst="bentUpArrow">
            <a:avLst>
              <a:gd name="adj1" fmla="val 25000"/>
              <a:gd name="adj2" fmla="val 24992"/>
              <a:gd name="adj3" fmla="val 25000"/>
            </a:avLst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5" name="图片 4" descr="360截图2025021422053287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98420" y="2987675"/>
            <a:ext cx="7676515" cy="3128645"/>
          </a:xfrm>
          <a:prstGeom prst="rect">
            <a:avLst/>
          </a:prstGeom>
          <a:ln w="57150">
            <a:solidFill>
              <a:srgbClr val="FF0000"/>
            </a:solidFill>
          </a:ln>
        </p:spPr>
      </p:pic>
      <p:pic>
        <p:nvPicPr>
          <p:cNvPr id="6" name="图片 5" descr="360截图2025021422090529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32935" y="1138555"/>
            <a:ext cx="1936115" cy="1520825"/>
          </a:xfrm>
          <a:prstGeom prst="rect">
            <a:avLst/>
          </a:prstGeom>
          <a:ln w="57150">
            <a:solidFill>
              <a:schemeClr val="accent3"/>
            </a:solidFill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图片 14" descr="图片包含 游戏机, 钟表, 仪表&#10;&#10;描述已自动生成"/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304" t="40998"/>
          <a:stretch>
            <a:fillRect/>
          </a:stretch>
        </p:blipFill>
        <p:spPr>
          <a:xfrm>
            <a:off x="10487025" y="5543346"/>
            <a:ext cx="2242643" cy="1314653"/>
          </a:xfrm>
          <a:custGeom>
            <a:avLst/>
            <a:gdLst>
              <a:gd name="connsiteX0" fmla="*/ 0 w 4419600"/>
              <a:gd name="connsiteY0" fmla="*/ 0 h 2590800"/>
              <a:gd name="connsiteX1" fmla="*/ 4419600 w 4419600"/>
              <a:gd name="connsiteY1" fmla="*/ 0 h 2590800"/>
              <a:gd name="connsiteX2" fmla="*/ 4419600 w 4419600"/>
              <a:gd name="connsiteY2" fmla="*/ 2590800 h 2590800"/>
              <a:gd name="connsiteX3" fmla="*/ 0 w 4419600"/>
              <a:gd name="connsiteY3" fmla="*/ 2590800 h 2590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19600" h="2590800">
                <a:moveTo>
                  <a:pt x="0" y="0"/>
                </a:moveTo>
                <a:lnTo>
                  <a:pt x="4419600" y="0"/>
                </a:lnTo>
                <a:lnTo>
                  <a:pt x="4419600" y="2590800"/>
                </a:lnTo>
                <a:lnTo>
                  <a:pt x="0" y="2590800"/>
                </a:lnTo>
                <a:close/>
              </a:path>
            </a:pathLst>
          </a:custGeom>
        </p:spPr>
      </p:pic>
      <p:pic>
        <p:nvPicPr>
          <p:cNvPr id="6" name="图片 5" descr="图片包含 游戏机, 钟表, 仪表&#10;&#10;描述已自动生成"/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751" r="62477" b="55965"/>
          <a:stretch>
            <a:fillRect/>
          </a:stretch>
        </p:blipFill>
        <p:spPr>
          <a:xfrm>
            <a:off x="-152400" y="-171450"/>
            <a:ext cx="1829926" cy="1485900"/>
          </a:xfrm>
          <a:custGeom>
            <a:avLst/>
            <a:gdLst>
              <a:gd name="connsiteX0" fmla="*/ 0 w 2381250"/>
              <a:gd name="connsiteY0" fmla="*/ 0 h 1933575"/>
              <a:gd name="connsiteX1" fmla="*/ 2381250 w 2381250"/>
              <a:gd name="connsiteY1" fmla="*/ 0 h 1933575"/>
              <a:gd name="connsiteX2" fmla="*/ 2381250 w 2381250"/>
              <a:gd name="connsiteY2" fmla="*/ 1933575 h 1933575"/>
              <a:gd name="connsiteX3" fmla="*/ 0 w 2381250"/>
              <a:gd name="connsiteY3" fmla="*/ 1933575 h 19335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81250" h="1933575">
                <a:moveTo>
                  <a:pt x="0" y="0"/>
                </a:moveTo>
                <a:lnTo>
                  <a:pt x="2381250" y="0"/>
                </a:lnTo>
                <a:lnTo>
                  <a:pt x="2381250" y="1933575"/>
                </a:lnTo>
                <a:lnTo>
                  <a:pt x="0" y="1933575"/>
                </a:lnTo>
                <a:close/>
              </a:path>
            </a:pathLst>
          </a:custGeom>
        </p:spPr>
      </p:pic>
      <p:pic>
        <p:nvPicPr>
          <p:cNvPr id="14" name="图片 13" descr="图片包含 游戏机, 钟表, 仪表&#10;&#10;描述已自动生成"/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641"/>
          <a:stretch>
            <a:fillRect/>
          </a:stretch>
        </p:blipFill>
        <p:spPr>
          <a:xfrm>
            <a:off x="-228600" y="4629857"/>
            <a:ext cx="2099855" cy="2228143"/>
          </a:xfrm>
          <a:custGeom>
            <a:avLst/>
            <a:gdLst>
              <a:gd name="connsiteX0" fmla="*/ 0 w 4138206"/>
              <a:gd name="connsiteY0" fmla="*/ 0 h 4391025"/>
              <a:gd name="connsiteX1" fmla="*/ 4138206 w 4138206"/>
              <a:gd name="connsiteY1" fmla="*/ 0 h 4391025"/>
              <a:gd name="connsiteX2" fmla="*/ 4138206 w 4138206"/>
              <a:gd name="connsiteY2" fmla="*/ 128587 h 4391025"/>
              <a:gd name="connsiteX3" fmla="*/ 2052230 w 4138206"/>
              <a:gd name="connsiteY3" fmla="*/ 128587 h 4391025"/>
              <a:gd name="connsiteX4" fmla="*/ 2052230 w 4138206"/>
              <a:gd name="connsiteY4" fmla="*/ 2081212 h 4391025"/>
              <a:gd name="connsiteX5" fmla="*/ 4138206 w 4138206"/>
              <a:gd name="connsiteY5" fmla="*/ 2081212 h 4391025"/>
              <a:gd name="connsiteX6" fmla="*/ 4138206 w 4138206"/>
              <a:gd name="connsiteY6" fmla="*/ 4391025 h 4391025"/>
              <a:gd name="connsiteX7" fmla="*/ 0 w 4138206"/>
              <a:gd name="connsiteY7" fmla="*/ 4391025 h 4391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138206" h="4391025">
                <a:moveTo>
                  <a:pt x="0" y="0"/>
                </a:moveTo>
                <a:lnTo>
                  <a:pt x="4138206" y="0"/>
                </a:lnTo>
                <a:lnTo>
                  <a:pt x="4138206" y="128587"/>
                </a:lnTo>
                <a:lnTo>
                  <a:pt x="2052230" y="128587"/>
                </a:lnTo>
                <a:lnTo>
                  <a:pt x="2052230" y="2081212"/>
                </a:lnTo>
                <a:lnTo>
                  <a:pt x="4138206" y="2081212"/>
                </a:lnTo>
                <a:lnTo>
                  <a:pt x="4138206" y="4391025"/>
                </a:lnTo>
                <a:lnTo>
                  <a:pt x="0" y="4391025"/>
                </a:lnTo>
                <a:close/>
              </a:path>
            </a:pathLst>
          </a:custGeom>
        </p:spPr>
      </p:pic>
      <p:pic>
        <p:nvPicPr>
          <p:cNvPr id="8" name="图片 7"/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rightnessContrast bright="6000"/>
                    </a14:imgEffect>
                    <a14:imgEffect>
                      <a14:sharpenSoften amount="9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48715" y="1988185"/>
            <a:ext cx="9895205" cy="3004185"/>
          </a:xfrm>
          <a:prstGeom prst="rect">
            <a:avLst/>
          </a:prstGeom>
        </p:spPr>
      </p:pic>
      <p:sp>
        <p:nvSpPr>
          <p:cNvPr id="9" name="文本框 8"/>
          <p:cNvSpPr txBox="1"/>
          <p:nvPr>
            <p:custDataLst>
              <p:tags r:id="rId1"/>
            </p:custDataLst>
          </p:nvPr>
        </p:nvSpPr>
        <p:spPr>
          <a:xfrm>
            <a:off x="2367118" y="5462318"/>
            <a:ext cx="1321991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b="1" dirty="0"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rPr>
              <a:t>店铺</a:t>
            </a:r>
            <a:r>
              <a:rPr lang="en-US" altLang="zh-CN" sz="2800" b="1" dirty="0"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rPr>
              <a:t>A</a:t>
            </a:r>
            <a:endParaRPr lang="zh-CN" altLang="en-US" sz="2800" b="1" dirty="0">
              <a:latin typeface="楷体" panose="02010609060101010101" pitchFamily="49" charset="-122"/>
              <a:ea typeface="楷体" panose="02010609060101010101" pitchFamily="49" charset="-122"/>
              <a:cs typeface="楷体" panose="02010609060101010101" pitchFamily="49" charset="-122"/>
            </a:endParaRPr>
          </a:p>
        </p:txBody>
      </p:sp>
      <p:sp>
        <p:nvSpPr>
          <p:cNvPr id="10" name="文本框 9"/>
          <p:cNvSpPr txBox="1"/>
          <p:nvPr>
            <p:custDataLst>
              <p:tags r:id="rId2"/>
            </p:custDataLst>
          </p:nvPr>
        </p:nvSpPr>
        <p:spPr>
          <a:xfrm>
            <a:off x="8031961" y="5445888"/>
            <a:ext cx="1321991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b="1" dirty="0"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rPr>
              <a:t>店铺</a:t>
            </a:r>
            <a:r>
              <a:rPr lang="en-US" altLang="zh-CN" sz="2800" b="1" dirty="0"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rPr>
              <a:t>B</a:t>
            </a:r>
            <a:endParaRPr lang="zh-CN" altLang="en-US" sz="2800" b="1" dirty="0">
              <a:latin typeface="楷体" panose="02010609060101010101" pitchFamily="49" charset="-122"/>
              <a:ea typeface="楷体" panose="02010609060101010101" pitchFamily="49" charset="-122"/>
              <a:cs typeface="楷体" panose="02010609060101010101" pitchFamily="49" charset="-122"/>
            </a:endParaRPr>
          </a:p>
        </p:txBody>
      </p:sp>
      <p:sp>
        <p:nvSpPr>
          <p:cNvPr id="11" name="椭圆 10"/>
          <p:cNvSpPr/>
          <p:nvPr>
            <p:custDataLst>
              <p:tags r:id="rId3"/>
            </p:custDataLst>
          </p:nvPr>
        </p:nvSpPr>
        <p:spPr>
          <a:xfrm>
            <a:off x="3761105" y="2465705"/>
            <a:ext cx="701040" cy="243459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椭圆 11"/>
          <p:cNvSpPr/>
          <p:nvPr>
            <p:custDataLst>
              <p:tags r:id="rId4"/>
            </p:custDataLst>
          </p:nvPr>
        </p:nvSpPr>
        <p:spPr>
          <a:xfrm>
            <a:off x="9102090" y="2528570"/>
            <a:ext cx="739140" cy="2447925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: 圆角 1"/>
          <p:cNvSpPr/>
          <p:nvPr/>
        </p:nvSpPr>
        <p:spPr>
          <a:xfrm>
            <a:off x="1747520" y="610870"/>
            <a:ext cx="2548255" cy="527685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r>
              <a:rPr lang="zh-CN" altLang="en-US" sz="2400" b="1" dirty="0">
                <a:latin typeface="楷体" panose="02010609060101010101" pitchFamily="49" charset="-122"/>
                <a:ea typeface="楷体" panose="02010609060101010101" pitchFamily="49" charset="-122"/>
              </a:rPr>
              <a:t>生活中的平均数</a:t>
            </a:r>
          </a:p>
        </p:txBody>
      </p:sp>
      <p:pic>
        <p:nvPicPr>
          <p:cNvPr id="13" name="图片 12"/>
          <p:cNvPicPr>
            <a:picLocks noChangeAspect="1"/>
          </p:cNvPicPr>
          <p:nvPr/>
        </p:nvPicPr>
        <p:blipFill>
          <a:blip r:embed="rId10">
            <a:clrChange>
              <a:clrFrom>
                <a:srgbClr val="F6F6F6"/>
              </a:clrFrom>
              <a:clrTo>
                <a:srgbClr val="F6F6F6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42242" y="270336"/>
            <a:ext cx="1154991" cy="116717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bldLvl="0" animBg="1"/>
      <p:bldP spid="12" grpId="0" bldLvl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图片 9" descr="图片包含 游戏机, 钟表, 仪表&#10;&#10;描述已自动生成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751" r="62477" b="55965"/>
          <a:stretch>
            <a:fillRect/>
          </a:stretch>
        </p:blipFill>
        <p:spPr>
          <a:xfrm>
            <a:off x="-152400" y="-171450"/>
            <a:ext cx="1829926" cy="1485900"/>
          </a:xfrm>
          <a:custGeom>
            <a:avLst/>
            <a:gdLst>
              <a:gd name="connsiteX0" fmla="*/ 0 w 2381250"/>
              <a:gd name="connsiteY0" fmla="*/ 0 h 1933575"/>
              <a:gd name="connsiteX1" fmla="*/ 2381250 w 2381250"/>
              <a:gd name="connsiteY1" fmla="*/ 0 h 1933575"/>
              <a:gd name="connsiteX2" fmla="*/ 2381250 w 2381250"/>
              <a:gd name="connsiteY2" fmla="*/ 1933575 h 1933575"/>
              <a:gd name="connsiteX3" fmla="*/ 0 w 2381250"/>
              <a:gd name="connsiteY3" fmla="*/ 1933575 h 19335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81250" h="1933575">
                <a:moveTo>
                  <a:pt x="0" y="0"/>
                </a:moveTo>
                <a:lnTo>
                  <a:pt x="2381250" y="0"/>
                </a:lnTo>
                <a:lnTo>
                  <a:pt x="2381250" y="1933575"/>
                </a:lnTo>
                <a:lnTo>
                  <a:pt x="0" y="1933575"/>
                </a:lnTo>
                <a:close/>
              </a:path>
            </a:pathLst>
          </a:custGeom>
        </p:spPr>
      </p:pic>
      <p:pic>
        <p:nvPicPr>
          <p:cNvPr id="14" name="图片 13" descr="图片包含 游戏机, 钟表, 仪表&#10;&#10;描述已自动生成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641"/>
          <a:stretch>
            <a:fillRect/>
          </a:stretch>
        </p:blipFill>
        <p:spPr>
          <a:xfrm>
            <a:off x="-228600" y="4629857"/>
            <a:ext cx="2099855" cy="2228143"/>
          </a:xfrm>
          <a:custGeom>
            <a:avLst/>
            <a:gdLst>
              <a:gd name="connsiteX0" fmla="*/ 0 w 4138206"/>
              <a:gd name="connsiteY0" fmla="*/ 0 h 4391025"/>
              <a:gd name="connsiteX1" fmla="*/ 4138206 w 4138206"/>
              <a:gd name="connsiteY1" fmla="*/ 0 h 4391025"/>
              <a:gd name="connsiteX2" fmla="*/ 4138206 w 4138206"/>
              <a:gd name="connsiteY2" fmla="*/ 128587 h 4391025"/>
              <a:gd name="connsiteX3" fmla="*/ 2052230 w 4138206"/>
              <a:gd name="connsiteY3" fmla="*/ 128587 h 4391025"/>
              <a:gd name="connsiteX4" fmla="*/ 2052230 w 4138206"/>
              <a:gd name="connsiteY4" fmla="*/ 2081212 h 4391025"/>
              <a:gd name="connsiteX5" fmla="*/ 4138206 w 4138206"/>
              <a:gd name="connsiteY5" fmla="*/ 2081212 h 4391025"/>
              <a:gd name="connsiteX6" fmla="*/ 4138206 w 4138206"/>
              <a:gd name="connsiteY6" fmla="*/ 4391025 h 4391025"/>
              <a:gd name="connsiteX7" fmla="*/ 0 w 4138206"/>
              <a:gd name="connsiteY7" fmla="*/ 4391025 h 4391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138206" h="4391025">
                <a:moveTo>
                  <a:pt x="0" y="0"/>
                </a:moveTo>
                <a:lnTo>
                  <a:pt x="4138206" y="0"/>
                </a:lnTo>
                <a:lnTo>
                  <a:pt x="4138206" y="128587"/>
                </a:lnTo>
                <a:lnTo>
                  <a:pt x="2052230" y="128587"/>
                </a:lnTo>
                <a:lnTo>
                  <a:pt x="2052230" y="2081212"/>
                </a:lnTo>
                <a:lnTo>
                  <a:pt x="4138206" y="2081212"/>
                </a:lnTo>
                <a:lnTo>
                  <a:pt x="4138206" y="4391025"/>
                </a:lnTo>
                <a:lnTo>
                  <a:pt x="0" y="4391025"/>
                </a:lnTo>
                <a:close/>
              </a:path>
            </a:pathLst>
          </a:custGeom>
        </p:spPr>
      </p:pic>
      <p:sp>
        <p:nvSpPr>
          <p:cNvPr id="5" name="文本框 4"/>
          <p:cNvSpPr txBox="1"/>
          <p:nvPr/>
        </p:nvSpPr>
        <p:spPr>
          <a:xfrm>
            <a:off x="584200" y="1314450"/>
            <a:ext cx="3900170" cy="181673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eaLnBrk="1" hangingPunct="1">
              <a:lnSpc>
                <a:spcPct val="120000"/>
              </a:lnSpc>
            </a:pPr>
            <a:r>
              <a:rPr lang="zh-CN" altLang="en-US" sz="3200" dirty="0">
                <a:solidFill>
                  <a:srgbClr val="000000"/>
                </a:solidFill>
                <a:latin typeface="楷体" panose="02010609060101010101" pitchFamily="49" charset="-122"/>
                <a:ea typeface="楷体" panose="02010609060101010101" pitchFamily="49" charset="-122"/>
                <a:sym typeface="+mn-ea"/>
              </a:rPr>
              <a:t>一个池塘的水平均深度是</a:t>
            </a:r>
            <a:r>
              <a:rPr lang="en-US" altLang="zh-CN" sz="3200" dirty="0">
                <a:solidFill>
                  <a:srgbClr val="000000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  <a:sym typeface="+mn-ea"/>
              </a:rPr>
              <a:t>110</a:t>
            </a:r>
            <a:r>
              <a:rPr lang="en-US" altLang="zh-CN" sz="3200" dirty="0">
                <a:solidFill>
                  <a:srgbClr val="000000"/>
                </a:solidFill>
                <a:latin typeface="楷体" panose="02010609060101010101" pitchFamily="49" charset="-122"/>
                <a:ea typeface="楷体" panose="02010609060101010101" pitchFamily="49" charset="-122"/>
                <a:sym typeface="+mn-ea"/>
              </a:rPr>
              <a:t>cm,</a:t>
            </a:r>
            <a:r>
              <a:rPr lang="zh-CN" altLang="en-US" sz="3200" dirty="0">
                <a:solidFill>
                  <a:srgbClr val="000000"/>
                </a:solidFill>
                <a:latin typeface="楷体" panose="02010609060101010101" pitchFamily="49" charset="-122"/>
                <a:ea typeface="楷体" panose="02010609060101010101" pitchFamily="49" charset="-122"/>
                <a:sym typeface="+mn-ea"/>
              </a:rPr>
              <a:t>小明身高</a:t>
            </a:r>
            <a:r>
              <a:rPr lang="en-US" altLang="zh-CN" sz="3200" dirty="0">
                <a:solidFill>
                  <a:srgbClr val="000000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  <a:sym typeface="+mn-ea"/>
              </a:rPr>
              <a:t>140</a:t>
            </a:r>
            <a:r>
              <a:rPr lang="en-US" altLang="zh-CN" sz="3200" dirty="0">
                <a:solidFill>
                  <a:srgbClr val="000000"/>
                </a:solidFill>
                <a:latin typeface="楷体" panose="02010609060101010101" pitchFamily="49" charset="-122"/>
                <a:ea typeface="楷体" panose="02010609060101010101" pitchFamily="49" charset="-122"/>
                <a:sym typeface="+mn-ea"/>
              </a:rPr>
              <a:t>cm,</a:t>
            </a:r>
            <a:r>
              <a:rPr lang="zh-CN" altLang="en-US" sz="3200" dirty="0">
                <a:solidFill>
                  <a:srgbClr val="000000"/>
                </a:solidFill>
                <a:latin typeface="楷体" panose="02010609060101010101" pitchFamily="49" charset="-122"/>
                <a:ea typeface="楷体" panose="02010609060101010101" pitchFamily="49" charset="-122"/>
                <a:sym typeface="+mn-ea"/>
              </a:rPr>
              <a:t>他下水游泳会不会有危险？</a:t>
            </a:r>
            <a:endParaRPr lang="zh-CN" altLang="en-US" sz="3200" b="1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2" name="矩形: 圆角 1"/>
          <p:cNvSpPr/>
          <p:nvPr/>
        </p:nvSpPr>
        <p:spPr>
          <a:xfrm>
            <a:off x="1747520" y="610870"/>
            <a:ext cx="2548255" cy="527685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r>
              <a:rPr lang="zh-CN" altLang="en-US" sz="2400" b="1" dirty="0">
                <a:latin typeface="楷体" panose="02010609060101010101" pitchFamily="49" charset="-122"/>
                <a:ea typeface="楷体" panose="02010609060101010101" pitchFamily="49" charset="-122"/>
              </a:rPr>
              <a:t>生活中的平均数</a:t>
            </a: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4">
            <a:clrChange>
              <a:clrFrom>
                <a:srgbClr val="F6F6F6"/>
              </a:clrFrom>
              <a:clrTo>
                <a:srgbClr val="F6F6F6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42242" y="270336"/>
            <a:ext cx="1154991" cy="1167175"/>
          </a:xfrm>
          <a:prstGeom prst="rect">
            <a:avLst/>
          </a:prstGeom>
        </p:spPr>
      </p:pic>
      <p:pic>
        <p:nvPicPr>
          <p:cNvPr id="15" name="图片 14" descr="图片包含 游戏机, 钟表, 仪表&#10;&#10;描述已自动生成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304" t="40998"/>
          <a:stretch>
            <a:fillRect/>
          </a:stretch>
        </p:blipFill>
        <p:spPr>
          <a:xfrm>
            <a:off x="10487025" y="5543346"/>
            <a:ext cx="2242643" cy="1314653"/>
          </a:xfrm>
          <a:custGeom>
            <a:avLst/>
            <a:gdLst>
              <a:gd name="connsiteX0" fmla="*/ 0 w 4419600"/>
              <a:gd name="connsiteY0" fmla="*/ 0 h 2590800"/>
              <a:gd name="connsiteX1" fmla="*/ 4419600 w 4419600"/>
              <a:gd name="connsiteY1" fmla="*/ 0 h 2590800"/>
              <a:gd name="connsiteX2" fmla="*/ 4419600 w 4419600"/>
              <a:gd name="connsiteY2" fmla="*/ 2590800 h 2590800"/>
              <a:gd name="connsiteX3" fmla="*/ 0 w 4419600"/>
              <a:gd name="connsiteY3" fmla="*/ 2590800 h 2590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19600" h="2590800">
                <a:moveTo>
                  <a:pt x="0" y="0"/>
                </a:moveTo>
                <a:lnTo>
                  <a:pt x="4419600" y="0"/>
                </a:lnTo>
                <a:lnTo>
                  <a:pt x="4419600" y="2590800"/>
                </a:lnTo>
                <a:lnTo>
                  <a:pt x="0" y="2590800"/>
                </a:lnTo>
                <a:close/>
              </a:path>
            </a:pathLst>
          </a:cu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54855" y="1437640"/>
            <a:ext cx="7283450" cy="403225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newsflash/>
      </p:transition>
    </mc:Choice>
    <mc:Fallback xmlns="">
      <p:transition spd="med">
        <p:newsflash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 descr="图片包含 游戏机, 钟表, 仪表&#10;&#10;描述已自动生成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751" r="62477" b="55965"/>
          <a:stretch>
            <a:fillRect/>
          </a:stretch>
        </p:blipFill>
        <p:spPr>
          <a:xfrm>
            <a:off x="-152400" y="-171450"/>
            <a:ext cx="1829926" cy="1485900"/>
          </a:xfrm>
          <a:custGeom>
            <a:avLst/>
            <a:gdLst>
              <a:gd name="connsiteX0" fmla="*/ 0 w 2381250"/>
              <a:gd name="connsiteY0" fmla="*/ 0 h 1933575"/>
              <a:gd name="connsiteX1" fmla="*/ 2381250 w 2381250"/>
              <a:gd name="connsiteY1" fmla="*/ 0 h 1933575"/>
              <a:gd name="connsiteX2" fmla="*/ 2381250 w 2381250"/>
              <a:gd name="connsiteY2" fmla="*/ 1933575 h 1933575"/>
              <a:gd name="connsiteX3" fmla="*/ 0 w 2381250"/>
              <a:gd name="connsiteY3" fmla="*/ 1933575 h 19335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81250" h="1933575">
                <a:moveTo>
                  <a:pt x="0" y="0"/>
                </a:moveTo>
                <a:lnTo>
                  <a:pt x="2381250" y="0"/>
                </a:lnTo>
                <a:lnTo>
                  <a:pt x="2381250" y="1933575"/>
                </a:lnTo>
                <a:lnTo>
                  <a:pt x="0" y="1933575"/>
                </a:lnTo>
                <a:close/>
              </a:path>
            </a:pathLst>
          </a:custGeom>
        </p:spPr>
      </p:pic>
      <p:pic>
        <p:nvPicPr>
          <p:cNvPr id="14" name="图片 13" descr="图片包含 游戏机, 钟表, 仪表&#10;&#10;描述已自动生成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641"/>
          <a:stretch>
            <a:fillRect/>
          </a:stretch>
        </p:blipFill>
        <p:spPr>
          <a:xfrm>
            <a:off x="-228600" y="4629857"/>
            <a:ext cx="2099855" cy="2228143"/>
          </a:xfrm>
          <a:custGeom>
            <a:avLst/>
            <a:gdLst>
              <a:gd name="connsiteX0" fmla="*/ 0 w 4138206"/>
              <a:gd name="connsiteY0" fmla="*/ 0 h 4391025"/>
              <a:gd name="connsiteX1" fmla="*/ 4138206 w 4138206"/>
              <a:gd name="connsiteY1" fmla="*/ 0 h 4391025"/>
              <a:gd name="connsiteX2" fmla="*/ 4138206 w 4138206"/>
              <a:gd name="connsiteY2" fmla="*/ 128587 h 4391025"/>
              <a:gd name="connsiteX3" fmla="*/ 2052230 w 4138206"/>
              <a:gd name="connsiteY3" fmla="*/ 128587 h 4391025"/>
              <a:gd name="connsiteX4" fmla="*/ 2052230 w 4138206"/>
              <a:gd name="connsiteY4" fmla="*/ 2081212 h 4391025"/>
              <a:gd name="connsiteX5" fmla="*/ 4138206 w 4138206"/>
              <a:gd name="connsiteY5" fmla="*/ 2081212 h 4391025"/>
              <a:gd name="connsiteX6" fmla="*/ 4138206 w 4138206"/>
              <a:gd name="connsiteY6" fmla="*/ 4391025 h 4391025"/>
              <a:gd name="connsiteX7" fmla="*/ 0 w 4138206"/>
              <a:gd name="connsiteY7" fmla="*/ 4391025 h 4391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138206" h="4391025">
                <a:moveTo>
                  <a:pt x="0" y="0"/>
                </a:moveTo>
                <a:lnTo>
                  <a:pt x="4138206" y="0"/>
                </a:lnTo>
                <a:lnTo>
                  <a:pt x="4138206" y="128587"/>
                </a:lnTo>
                <a:lnTo>
                  <a:pt x="2052230" y="128587"/>
                </a:lnTo>
                <a:lnTo>
                  <a:pt x="2052230" y="2081212"/>
                </a:lnTo>
                <a:lnTo>
                  <a:pt x="4138206" y="2081212"/>
                </a:lnTo>
                <a:lnTo>
                  <a:pt x="4138206" y="4391025"/>
                </a:lnTo>
                <a:lnTo>
                  <a:pt x="0" y="4391025"/>
                </a:lnTo>
                <a:close/>
              </a:path>
            </a:pathLst>
          </a:custGeom>
        </p:spPr>
      </p:pic>
      <p:sp>
        <p:nvSpPr>
          <p:cNvPr id="4" name="文本框 3"/>
          <p:cNvSpPr txBox="1"/>
          <p:nvPr/>
        </p:nvSpPr>
        <p:spPr>
          <a:xfrm>
            <a:off x="542001" y="2423689"/>
            <a:ext cx="6728749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sz="3200" b="1" dirty="0">
                <a:latin typeface="楷体" panose="02010609060101010101" pitchFamily="49" charset="-122"/>
                <a:ea typeface="楷体" panose="02010609060101010101" pitchFamily="49" charset="-122"/>
              </a:rPr>
              <a:t>目前中国女性平均寿命约</a:t>
            </a:r>
            <a:r>
              <a:rPr lang="en-US" altLang="zh-CN" sz="3200" b="1" dirty="0">
                <a:latin typeface="楷体" panose="02010609060101010101" pitchFamily="49" charset="-122"/>
                <a:ea typeface="楷体" panose="02010609060101010101" pitchFamily="49" charset="-122"/>
              </a:rPr>
              <a:t>74</a:t>
            </a:r>
            <a:r>
              <a:rPr lang="zh-CN" altLang="en-US" sz="3200" b="1" dirty="0">
                <a:latin typeface="楷体" panose="02010609060101010101" pitchFamily="49" charset="-122"/>
                <a:ea typeface="楷体" panose="02010609060101010101" pitchFamily="49" charset="-122"/>
              </a:rPr>
              <a:t>岁</a:t>
            </a:r>
          </a:p>
        </p:txBody>
      </p:sp>
      <p:sp>
        <p:nvSpPr>
          <p:cNvPr id="9" name="矩形: 圆角 1"/>
          <p:cNvSpPr/>
          <p:nvPr/>
        </p:nvSpPr>
        <p:spPr>
          <a:xfrm>
            <a:off x="1747520" y="610870"/>
            <a:ext cx="2548255" cy="527685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r>
              <a:rPr lang="zh-CN" altLang="en-US" sz="2400" b="1" dirty="0">
                <a:latin typeface="楷体" panose="02010609060101010101" pitchFamily="49" charset="-122"/>
                <a:ea typeface="楷体" panose="02010609060101010101" pitchFamily="49" charset="-122"/>
              </a:rPr>
              <a:t>生活中的平均数</a:t>
            </a:r>
          </a:p>
        </p:txBody>
      </p:sp>
      <p:pic>
        <p:nvPicPr>
          <p:cNvPr id="10" name="图片 9"/>
          <p:cNvPicPr>
            <a:picLocks noChangeAspect="1"/>
          </p:cNvPicPr>
          <p:nvPr/>
        </p:nvPicPr>
        <p:blipFill>
          <a:blip r:embed="rId4">
            <a:clrChange>
              <a:clrFrom>
                <a:srgbClr val="F6F6F6"/>
              </a:clrFrom>
              <a:clrTo>
                <a:srgbClr val="F6F6F6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42242" y="270336"/>
            <a:ext cx="1154991" cy="1167175"/>
          </a:xfrm>
          <a:prstGeom prst="rect">
            <a:avLst/>
          </a:prstGeom>
        </p:spPr>
      </p:pic>
      <p:pic>
        <p:nvPicPr>
          <p:cNvPr id="15" name="图片 14" descr="图片包含 游戏机, 钟表, 仪表&#10;&#10;描述已自动生成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304" t="40998"/>
          <a:stretch>
            <a:fillRect/>
          </a:stretch>
        </p:blipFill>
        <p:spPr>
          <a:xfrm>
            <a:off x="10487025" y="5543346"/>
            <a:ext cx="2242643" cy="1314653"/>
          </a:xfrm>
          <a:custGeom>
            <a:avLst/>
            <a:gdLst>
              <a:gd name="connsiteX0" fmla="*/ 0 w 4419600"/>
              <a:gd name="connsiteY0" fmla="*/ 0 h 2590800"/>
              <a:gd name="connsiteX1" fmla="*/ 4419600 w 4419600"/>
              <a:gd name="connsiteY1" fmla="*/ 0 h 2590800"/>
              <a:gd name="connsiteX2" fmla="*/ 4419600 w 4419600"/>
              <a:gd name="connsiteY2" fmla="*/ 2590800 h 2590800"/>
              <a:gd name="connsiteX3" fmla="*/ 0 w 4419600"/>
              <a:gd name="connsiteY3" fmla="*/ 2590800 h 2590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19600" h="2590800">
                <a:moveTo>
                  <a:pt x="0" y="0"/>
                </a:moveTo>
                <a:lnTo>
                  <a:pt x="4419600" y="0"/>
                </a:lnTo>
                <a:lnTo>
                  <a:pt x="4419600" y="2590800"/>
                </a:lnTo>
                <a:lnTo>
                  <a:pt x="0" y="2590800"/>
                </a:lnTo>
                <a:close/>
              </a:path>
            </a:pathLst>
          </a:custGeom>
        </p:spPr>
      </p:pic>
      <p:pic>
        <p:nvPicPr>
          <p:cNvPr id="2" name="图片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94525" y="2031365"/>
            <a:ext cx="4114800" cy="413385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airplane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图片 14" descr="图片包含 游戏机, 钟表, 仪表&#10;&#10;描述已自动生成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304" t="40998"/>
          <a:stretch>
            <a:fillRect/>
          </a:stretch>
        </p:blipFill>
        <p:spPr>
          <a:xfrm>
            <a:off x="10487025" y="5543346"/>
            <a:ext cx="2242643" cy="1314653"/>
          </a:xfrm>
          <a:custGeom>
            <a:avLst/>
            <a:gdLst>
              <a:gd name="connsiteX0" fmla="*/ 0 w 4419600"/>
              <a:gd name="connsiteY0" fmla="*/ 0 h 2590800"/>
              <a:gd name="connsiteX1" fmla="*/ 4419600 w 4419600"/>
              <a:gd name="connsiteY1" fmla="*/ 0 h 2590800"/>
              <a:gd name="connsiteX2" fmla="*/ 4419600 w 4419600"/>
              <a:gd name="connsiteY2" fmla="*/ 2590800 h 2590800"/>
              <a:gd name="connsiteX3" fmla="*/ 0 w 4419600"/>
              <a:gd name="connsiteY3" fmla="*/ 2590800 h 2590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19600" h="2590800">
                <a:moveTo>
                  <a:pt x="0" y="0"/>
                </a:moveTo>
                <a:lnTo>
                  <a:pt x="4419600" y="0"/>
                </a:lnTo>
                <a:lnTo>
                  <a:pt x="4419600" y="2590800"/>
                </a:lnTo>
                <a:lnTo>
                  <a:pt x="0" y="2590800"/>
                </a:lnTo>
                <a:close/>
              </a:path>
            </a:pathLst>
          </a:custGeom>
        </p:spPr>
      </p:pic>
      <p:pic>
        <p:nvPicPr>
          <p:cNvPr id="9" name="图片 8" descr="图片包含 游戏机, 钟表, 仪表&#10;&#10;描述已自动生成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751" r="62477" b="55965"/>
          <a:stretch>
            <a:fillRect/>
          </a:stretch>
        </p:blipFill>
        <p:spPr>
          <a:xfrm>
            <a:off x="-152400" y="-171450"/>
            <a:ext cx="1829926" cy="1485900"/>
          </a:xfrm>
          <a:custGeom>
            <a:avLst/>
            <a:gdLst>
              <a:gd name="connsiteX0" fmla="*/ 0 w 2381250"/>
              <a:gd name="connsiteY0" fmla="*/ 0 h 1933575"/>
              <a:gd name="connsiteX1" fmla="*/ 2381250 w 2381250"/>
              <a:gd name="connsiteY1" fmla="*/ 0 h 1933575"/>
              <a:gd name="connsiteX2" fmla="*/ 2381250 w 2381250"/>
              <a:gd name="connsiteY2" fmla="*/ 1933575 h 1933575"/>
              <a:gd name="connsiteX3" fmla="*/ 0 w 2381250"/>
              <a:gd name="connsiteY3" fmla="*/ 1933575 h 19335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81250" h="1933575">
                <a:moveTo>
                  <a:pt x="0" y="0"/>
                </a:moveTo>
                <a:lnTo>
                  <a:pt x="2381250" y="0"/>
                </a:lnTo>
                <a:lnTo>
                  <a:pt x="2381250" y="1933575"/>
                </a:lnTo>
                <a:lnTo>
                  <a:pt x="0" y="1933575"/>
                </a:lnTo>
                <a:close/>
              </a:path>
            </a:pathLst>
          </a:custGeom>
        </p:spPr>
      </p:pic>
      <p:pic>
        <p:nvPicPr>
          <p:cNvPr id="14" name="图片 13" descr="图片包含 游戏机, 钟表, 仪表&#10;&#10;描述已自动生成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641"/>
          <a:stretch>
            <a:fillRect/>
          </a:stretch>
        </p:blipFill>
        <p:spPr>
          <a:xfrm>
            <a:off x="-228600" y="4629857"/>
            <a:ext cx="2099855" cy="2228143"/>
          </a:xfrm>
          <a:custGeom>
            <a:avLst/>
            <a:gdLst>
              <a:gd name="connsiteX0" fmla="*/ 0 w 4138206"/>
              <a:gd name="connsiteY0" fmla="*/ 0 h 4391025"/>
              <a:gd name="connsiteX1" fmla="*/ 4138206 w 4138206"/>
              <a:gd name="connsiteY1" fmla="*/ 0 h 4391025"/>
              <a:gd name="connsiteX2" fmla="*/ 4138206 w 4138206"/>
              <a:gd name="connsiteY2" fmla="*/ 128587 h 4391025"/>
              <a:gd name="connsiteX3" fmla="*/ 2052230 w 4138206"/>
              <a:gd name="connsiteY3" fmla="*/ 128587 h 4391025"/>
              <a:gd name="connsiteX4" fmla="*/ 2052230 w 4138206"/>
              <a:gd name="connsiteY4" fmla="*/ 2081212 h 4391025"/>
              <a:gd name="connsiteX5" fmla="*/ 4138206 w 4138206"/>
              <a:gd name="connsiteY5" fmla="*/ 2081212 h 4391025"/>
              <a:gd name="connsiteX6" fmla="*/ 4138206 w 4138206"/>
              <a:gd name="connsiteY6" fmla="*/ 4391025 h 4391025"/>
              <a:gd name="connsiteX7" fmla="*/ 0 w 4138206"/>
              <a:gd name="connsiteY7" fmla="*/ 4391025 h 4391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138206" h="4391025">
                <a:moveTo>
                  <a:pt x="0" y="0"/>
                </a:moveTo>
                <a:lnTo>
                  <a:pt x="4138206" y="0"/>
                </a:lnTo>
                <a:lnTo>
                  <a:pt x="4138206" y="128587"/>
                </a:lnTo>
                <a:lnTo>
                  <a:pt x="2052230" y="128587"/>
                </a:lnTo>
                <a:lnTo>
                  <a:pt x="2052230" y="2081212"/>
                </a:lnTo>
                <a:lnTo>
                  <a:pt x="4138206" y="2081212"/>
                </a:lnTo>
                <a:lnTo>
                  <a:pt x="4138206" y="4391025"/>
                </a:lnTo>
                <a:lnTo>
                  <a:pt x="0" y="4391025"/>
                </a:lnTo>
                <a:close/>
              </a:path>
            </a:pathLst>
          </a:custGeom>
        </p:spPr>
      </p:pic>
      <p:sp>
        <p:nvSpPr>
          <p:cNvPr id="4" name="文本框 3"/>
          <p:cNvSpPr txBox="1"/>
          <p:nvPr/>
        </p:nvSpPr>
        <p:spPr>
          <a:xfrm>
            <a:off x="1242253" y="2247135"/>
            <a:ext cx="5564947" cy="1568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200" b="1" dirty="0">
                <a:latin typeface="楷体" panose="02010609060101010101" pitchFamily="49" charset="-122"/>
                <a:ea typeface="楷体" panose="02010609060101010101" pitchFamily="49" charset="-122"/>
              </a:rPr>
              <a:t>如果酒店按照旅客的</a:t>
            </a:r>
            <a:r>
              <a:rPr lang="zh-CN" altLang="en-US" sz="3200" b="1" dirty="0">
                <a:solidFill>
                  <a:srgbClr val="FF0000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平均身高</a:t>
            </a:r>
            <a:r>
              <a:rPr lang="zh-CN" altLang="en-US" sz="3200" b="1" dirty="0">
                <a:latin typeface="楷体" panose="02010609060101010101" pitchFamily="49" charset="-122"/>
                <a:ea typeface="楷体" panose="02010609060101010101" pitchFamily="49" charset="-122"/>
              </a:rPr>
              <a:t>来订购这批新床，这样做合理吗</a:t>
            </a:r>
            <a:r>
              <a:rPr lang="en-US" altLang="zh-CN" sz="3200" b="1" dirty="0">
                <a:latin typeface="楷体" panose="02010609060101010101" pitchFamily="49" charset="-122"/>
                <a:ea typeface="楷体" panose="02010609060101010101" pitchFamily="49" charset="-122"/>
              </a:rPr>
              <a:t>?</a:t>
            </a:r>
            <a:r>
              <a:rPr lang="zh-CN" altLang="en-US" sz="3200" b="1" dirty="0">
                <a:latin typeface="楷体" panose="02010609060101010101" pitchFamily="49" charset="-122"/>
                <a:ea typeface="楷体" panose="02010609060101010101" pitchFamily="49" charset="-122"/>
              </a:rPr>
              <a:t>为什么</a:t>
            </a:r>
            <a:r>
              <a:rPr lang="en-US" altLang="zh-CN" sz="3200" b="1" dirty="0">
                <a:latin typeface="楷体" panose="02010609060101010101" pitchFamily="49" charset="-122"/>
                <a:ea typeface="楷体" panose="02010609060101010101" pitchFamily="49" charset="-122"/>
              </a:rPr>
              <a:t>?</a:t>
            </a:r>
            <a:endParaRPr lang="zh-CN" altLang="en-US" sz="3200" b="1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5" name="矩形: 圆角 4"/>
          <p:cNvSpPr/>
          <p:nvPr/>
        </p:nvSpPr>
        <p:spPr>
          <a:xfrm>
            <a:off x="1823720" y="624840"/>
            <a:ext cx="1717675" cy="504190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r>
              <a:rPr lang="zh-CN" altLang="en-US" sz="2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辨一辨</a:t>
            </a:r>
          </a:p>
        </p:txBody>
      </p:sp>
      <p:pic>
        <p:nvPicPr>
          <p:cNvPr id="2" name="图片 1" descr="173789287515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1797050"/>
            <a:ext cx="3263900" cy="3263900"/>
          </a:xfrm>
          <a:prstGeom prst="rect">
            <a:avLst/>
          </a:prstGeom>
        </p:spPr>
      </p:pic>
      <p:pic>
        <p:nvPicPr>
          <p:cNvPr id="10" name="图片 9"/>
          <p:cNvPicPr>
            <a:picLocks noChangeAspect="1"/>
          </p:cNvPicPr>
          <p:nvPr/>
        </p:nvPicPr>
        <p:blipFill>
          <a:blip r:embed="rId5">
            <a:clrChange>
              <a:clrFrom>
                <a:srgbClr val="F6F6F6"/>
              </a:clrFrom>
              <a:clrTo>
                <a:srgbClr val="F6F6F6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42242" y="270336"/>
            <a:ext cx="1154991" cy="116717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图片 14" descr="图片包含 游戏机, 钟表, 仪表&#10;&#10;描述已自动生成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304" t="40998"/>
          <a:stretch>
            <a:fillRect/>
          </a:stretch>
        </p:blipFill>
        <p:spPr>
          <a:xfrm>
            <a:off x="10487025" y="5543346"/>
            <a:ext cx="2242643" cy="1314653"/>
          </a:xfrm>
          <a:custGeom>
            <a:avLst/>
            <a:gdLst>
              <a:gd name="connsiteX0" fmla="*/ 0 w 4419600"/>
              <a:gd name="connsiteY0" fmla="*/ 0 h 2590800"/>
              <a:gd name="connsiteX1" fmla="*/ 4419600 w 4419600"/>
              <a:gd name="connsiteY1" fmla="*/ 0 h 2590800"/>
              <a:gd name="connsiteX2" fmla="*/ 4419600 w 4419600"/>
              <a:gd name="connsiteY2" fmla="*/ 2590800 h 2590800"/>
              <a:gd name="connsiteX3" fmla="*/ 0 w 4419600"/>
              <a:gd name="connsiteY3" fmla="*/ 2590800 h 2590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19600" h="2590800">
                <a:moveTo>
                  <a:pt x="0" y="0"/>
                </a:moveTo>
                <a:lnTo>
                  <a:pt x="4419600" y="0"/>
                </a:lnTo>
                <a:lnTo>
                  <a:pt x="4419600" y="2590800"/>
                </a:lnTo>
                <a:lnTo>
                  <a:pt x="0" y="2590800"/>
                </a:lnTo>
                <a:close/>
              </a:path>
            </a:pathLst>
          </a:custGeom>
        </p:spPr>
      </p:pic>
      <p:pic>
        <p:nvPicPr>
          <p:cNvPr id="10" name="图片 9" descr="图片包含 游戏机, 钟表, 仪表&#10;&#10;描述已自动生成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751" r="62477" b="55965"/>
          <a:stretch>
            <a:fillRect/>
          </a:stretch>
        </p:blipFill>
        <p:spPr>
          <a:xfrm>
            <a:off x="-152400" y="-171450"/>
            <a:ext cx="1829926" cy="1485900"/>
          </a:xfrm>
          <a:custGeom>
            <a:avLst/>
            <a:gdLst>
              <a:gd name="connsiteX0" fmla="*/ 0 w 2381250"/>
              <a:gd name="connsiteY0" fmla="*/ 0 h 1933575"/>
              <a:gd name="connsiteX1" fmla="*/ 2381250 w 2381250"/>
              <a:gd name="connsiteY1" fmla="*/ 0 h 1933575"/>
              <a:gd name="connsiteX2" fmla="*/ 2381250 w 2381250"/>
              <a:gd name="connsiteY2" fmla="*/ 1933575 h 1933575"/>
              <a:gd name="connsiteX3" fmla="*/ 0 w 2381250"/>
              <a:gd name="connsiteY3" fmla="*/ 1933575 h 19335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81250" h="1933575">
                <a:moveTo>
                  <a:pt x="0" y="0"/>
                </a:moveTo>
                <a:lnTo>
                  <a:pt x="2381250" y="0"/>
                </a:lnTo>
                <a:lnTo>
                  <a:pt x="2381250" y="1933575"/>
                </a:lnTo>
                <a:lnTo>
                  <a:pt x="0" y="1933575"/>
                </a:lnTo>
                <a:close/>
              </a:path>
            </a:pathLst>
          </a:custGeom>
        </p:spPr>
      </p:pic>
      <p:pic>
        <p:nvPicPr>
          <p:cNvPr id="14" name="图片 13" descr="图片包含 游戏机, 钟表, 仪表&#10;&#10;描述已自动生成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641"/>
          <a:stretch>
            <a:fillRect/>
          </a:stretch>
        </p:blipFill>
        <p:spPr>
          <a:xfrm>
            <a:off x="-228600" y="4629857"/>
            <a:ext cx="2099855" cy="2228143"/>
          </a:xfrm>
          <a:custGeom>
            <a:avLst/>
            <a:gdLst>
              <a:gd name="connsiteX0" fmla="*/ 0 w 4138206"/>
              <a:gd name="connsiteY0" fmla="*/ 0 h 4391025"/>
              <a:gd name="connsiteX1" fmla="*/ 4138206 w 4138206"/>
              <a:gd name="connsiteY1" fmla="*/ 0 h 4391025"/>
              <a:gd name="connsiteX2" fmla="*/ 4138206 w 4138206"/>
              <a:gd name="connsiteY2" fmla="*/ 128587 h 4391025"/>
              <a:gd name="connsiteX3" fmla="*/ 2052230 w 4138206"/>
              <a:gd name="connsiteY3" fmla="*/ 128587 h 4391025"/>
              <a:gd name="connsiteX4" fmla="*/ 2052230 w 4138206"/>
              <a:gd name="connsiteY4" fmla="*/ 2081212 h 4391025"/>
              <a:gd name="connsiteX5" fmla="*/ 4138206 w 4138206"/>
              <a:gd name="connsiteY5" fmla="*/ 2081212 h 4391025"/>
              <a:gd name="connsiteX6" fmla="*/ 4138206 w 4138206"/>
              <a:gd name="connsiteY6" fmla="*/ 4391025 h 4391025"/>
              <a:gd name="connsiteX7" fmla="*/ 0 w 4138206"/>
              <a:gd name="connsiteY7" fmla="*/ 4391025 h 4391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138206" h="4391025">
                <a:moveTo>
                  <a:pt x="0" y="0"/>
                </a:moveTo>
                <a:lnTo>
                  <a:pt x="4138206" y="0"/>
                </a:lnTo>
                <a:lnTo>
                  <a:pt x="4138206" y="128587"/>
                </a:lnTo>
                <a:lnTo>
                  <a:pt x="2052230" y="128587"/>
                </a:lnTo>
                <a:lnTo>
                  <a:pt x="2052230" y="2081212"/>
                </a:lnTo>
                <a:lnTo>
                  <a:pt x="4138206" y="2081212"/>
                </a:lnTo>
                <a:lnTo>
                  <a:pt x="4138206" y="4391025"/>
                </a:lnTo>
                <a:lnTo>
                  <a:pt x="0" y="4391025"/>
                </a:lnTo>
                <a:close/>
              </a:path>
            </a:pathLst>
          </a:custGeom>
        </p:spPr>
      </p:pic>
      <p:sp>
        <p:nvSpPr>
          <p:cNvPr id="5" name="矩形: 圆角 4"/>
          <p:cNvSpPr/>
          <p:nvPr/>
        </p:nvSpPr>
        <p:spPr>
          <a:xfrm>
            <a:off x="1734820" y="626110"/>
            <a:ext cx="2343150" cy="713105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r>
              <a:rPr lang="zh-CN" altLang="en-US" sz="3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你知道吗</a:t>
            </a:r>
          </a:p>
        </p:txBody>
      </p:sp>
      <p:sp>
        <p:nvSpPr>
          <p:cNvPr id="2" name="文本框 1"/>
          <p:cNvSpPr txBox="1"/>
          <p:nvPr/>
        </p:nvSpPr>
        <p:spPr>
          <a:xfrm>
            <a:off x="1862333" y="2361236"/>
            <a:ext cx="2164466" cy="7683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4400" b="1" dirty="0">
                <a:solidFill>
                  <a:srgbClr val="FF0000"/>
                </a:solidFill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rPr>
              <a:t>平均数</a:t>
            </a:r>
            <a:r>
              <a:rPr lang="en-US" altLang="zh-CN" sz="4400" b="1" dirty="0">
                <a:solidFill>
                  <a:srgbClr val="FF0000"/>
                </a:solidFill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rPr>
              <a:t> </a:t>
            </a:r>
          </a:p>
        </p:txBody>
      </p:sp>
      <p:sp>
        <p:nvSpPr>
          <p:cNvPr id="3" name="文本框 2"/>
          <p:cNvSpPr txBox="1"/>
          <p:nvPr/>
        </p:nvSpPr>
        <p:spPr>
          <a:xfrm>
            <a:off x="5287154" y="2361236"/>
            <a:ext cx="2164466" cy="7683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dist"/>
            <a:r>
              <a:rPr lang="zh-CN" altLang="en-US" sz="4400" b="1" dirty="0">
                <a:solidFill>
                  <a:srgbClr val="FF0000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众数</a:t>
            </a:r>
          </a:p>
        </p:txBody>
      </p:sp>
      <p:sp>
        <p:nvSpPr>
          <p:cNvPr id="8" name="文本框 7"/>
          <p:cNvSpPr txBox="1"/>
          <p:nvPr/>
        </p:nvSpPr>
        <p:spPr>
          <a:xfrm>
            <a:off x="8753475" y="2360930"/>
            <a:ext cx="1922780" cy="7683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4400" b="1" dirty="0">
                <a:solidFill>
                  <a:srgbClr val="FF0000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中位数</a:t>
            </a:r>
          </a:p>
        </p:txBody>
      </p:sp>
      <p:sp>
        <p:nvSpPr>
          <p:cNvPr id="9" name="文本框 8"/>
          <p:cNvSpPr txBox="1"/>
          <p:nvPr/>
        </p:nvSpPr>
        <p:spPr>
          <a:xfrm>
            <a:off x="5650375" y="4155311"/>
            <a:ext cx="216446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4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……</a:t>
            </a:r>
            <a:endParaRPr lang="zh-CN" altLang="en-US" sz="4400" b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1" name="图片 10"/>
          <p:cNvPicPr>
            <a:picLocks noChangeAspect="1"/>
          </p:cNvPicPr>
          <p:nvPr/>
        </p:nvPicPr>
        <p:blipFill>
          <a:blip r:embed="rId4">
            <a:clrChange>
              <a:clrFrom>
                <a:srgbClr val="F6F6F6"/>
              </a:clrFrom>
              <a:clrTo>
                <a:srgbClr val="F6F6F6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42242" y="270336"/>
            <a:ext cx="1154991" cy="116717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8" grpId="0"/>
      <p:bldP spid="9" grpId="0"/>
    </p:bld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ESOURCE_RECORD_KEY" val="{&quot;29&quot;:[50052696,50052704,50053246],&quot;8&quot;:[4610354]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581*130"/>
  <p:tag name="TABLE_ENDDRAG_RECT" val="96*62*581*130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581*130"/>
  <p:tag name="TABLE_ENDDRAG_RECT" val="96*62*581*130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581*130"/>
  <p:tag name="TABLE_ENDDRAG_RECT" val="96*62*581*130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220*242"/>
  <p:tag name="TABLE_ENDDRAG_RECT" val="143*207*220*242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239*275"/>
  <p:tag name="TABLE_ENDDRAG_RECT" val="489*208*239*275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7.1755905511811,&quot;left&quot;:158.38724409448818,&quot;top&quot;:194.12661417322835,&quot;width&quot;:679.4482677165354}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7.1755905511811,&quot;left&quot;:158.38724409448818,&quot;top&quot;:194.12661417322835,&quot;width&quot;:679.4482677165354}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7.1755905511811,&quot;left&quot;:158.38724409448818,&quot;top&quot;:194.12661417322835,&quot;width&quot;:679.4482677165354}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7.1755905511811,&quot;left&quot;:158.38724409448818,&quot;top&quot;:194.12661417322835,&quot;width&quot;:679.4482677165354}"/>
</p:tagLst>
</file>

<file path=ppt/theme/theme1.xml><?xml version="1.0" encoding="utf-8"?>
<a:theme xmlns:a="http://schemas.openxmlformats.org/drawingml/2006/main" name="Office 主题​​">
  <a:themeElements>
    <a:clrScheme name="紫罗兰色 II">
      <a:dk1>
        <a:sysClr val="windowText" lastClr="000000"/>
      </a:dk1>
      <a:lt1>
        <a:sysClr val="window" lastClr="FFFFFF"/>
      </a:lt1>
      <a:dk2>
        <a:srgbClr val="632E62"/>
      </a:dk2>
      <a:lt2>
        <a:srgbClr val="EAE5EB"/>
      </a:lt2>
      <a:accent1>
        <a:srgbClr val="E32D91"/>
      </a:accent1>
      <a:accent2>
        <a:srgbClr val="EEB5C7"/>
      </a:accent2>
      <a:accent3>
        <a:srgbClr val="4EA6DC"/>
      </a:accent3>
      <a:accent4>
        <a:srgbClr val="4775E7"/>
      </a:accent4>
      <a:accent5>
        <a:srgbClr val="8971E1"/>
      </a:accent5>
      <a:accent6>
        <a:srgbClr val="C830CC"/>
      </a:accent6>
      <a:hlink>
        <a:srgbClr val="0066FF"/>
      </a:hlink>
      <a:folHlink>
        <a:srgbClr val="666699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紫罗兰色 II">
    <a:dk1>
      <a:sysClr val="windowText" lastClr="000000"/>
    </a:dk1>
    <a:lt1>
      <a:sysClr val="window" lastClr="FFFFFF"/>
    </a:lt1>
    <a:dk2>
      <a:srgbClr val="632E62"/>
    </a:dk2>
    <a:lt2>
      <a:srgbClr val="EAE5EB"/>
    </a:lt2>
    <a:accent1>
      <a:srgbClr val="E32D91"/>
    </a:accent1>
    <a:accent2>
      <a:srgbClr val="EEB5C7"/>
    </a:accent2>
    <a:accent3>
      <a:srgbClr val="4EA6DC"/>
    </a:accent3>
    <a:accent4>
      <a:srgbClr val="4775E7"/>
    </a:accent4>
    <a:accent5>
      <a:srgbClr val="8971E1"/>
    </a:accent5>
    <a:accent6>
      <a:srgbClr val="C830CC"/>
    </a:accent6>
    <a:hlink>
      <a:srgbClr val="0066FF"/>
    </a:hlink>
    <a:folHlink>
      <a:srgbClr val="666699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otalTime>1759</TotalTime>
  <Words>709</Words>
  <Application>Microsoft Macintosh PowerPoint</Application>
  <PresentationFormat>宽屏</PresentationFormat>
  <Paragraphs>459</Paragraphs>
  <Slides>12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21" baseType="lpstr">
      <vt:lpstr>等线</vt:lpstr>
      <vt:lpstr>等线 Light</vt:lpstr>
      <vt:lpstr>楷体</vt:lpstr>
      <vt:lpstr>南宋书局体</vt:lpstr>
      <vt:lpstr>微软雅黑</vt:lpstr>
      <vt:lpstr>Arial</vt:lpstr>
      <vt:lpstr>Calibri</vt:lpstr>
      <vt:lpstr>Times New Roman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郑 林芝</dc:creator>
  <cp:lastModifiedBy>didi</cp:lastModifiedBy>
  <cp:revision>33</cp:revision>
  <dcterms:created xsi:type="dcterms:W3CDTF">2023-02-15T06:34:00Z</dcterms:created>
  <dcterms:modified xsi:type="dcterms:W3CDTF">2026-04-07T06:40:13Z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106E7063817C4EB8AB35FD0353A766CE_13</vt:lpwstr>
  </property>
  <property fmtid="{D5CDD505-2E9C-101B-9397-08002B2CF9AE}" pid="3" name="KSOProductBuildVer">
    <vt:lpwstr>2052-12.1.0.25225</vt:lpwstr>
  </property>
</Properties>
</file>